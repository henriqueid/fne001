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c2da5b4063437f" /><Relationship Type="http://schemas.openxmlformats.org/officeDocument/2006/relationships/extended-properties" Target="/docProps/app.xml" Id="R68171c85c20946db" /><Relationship Type="http://schemas.openxmlformats.org/officeDocument/2006/relationships/officeDocument" Target="/ppt/presentation.xml" Id="Rf5ff8f3c1a3548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d358ce5e9c460d"/>
  </p:sldMasterIdLst>
  <p:notesMasterIdLst>
    <p:notesMasterId xmlns:r="http://schemas.openxmlformats.org/officeDocument/2006/relationships" r:id="R16eeb685a2c94ee9"/>
  </p:notesMasterIdLst>
  <p:sldIdLst>
    <p:sldId xmlns:r="http://schemas.openxmlformats.org/officeDocument/2006/relationships" id="256" r:id="Rd7f41a84c8f549c4"/>
    <p:sldId xmlns:r="http://schemas.openxmlformats.org/officeDocument/2006/relationships" id="257" r:id="R1c7e887345cd426e"/>
    <p:sldId xmlns:r="http://schemas.openxmlformats.org/officeDocument/2006/relationships" id="258" r:id="Rbca060173dd94ed9"/>
    <p:sldId xmlns:r="http://schemas.openxmlformats.org/officeDocument/2006/relationships" id="259" r:id="Re06c47a6096e4788"/>
    <p:sldId xmlns:r="http://schemas.openxmlformats.org/officeDocument/2006/relationships" id="260" r:id="R14d3096968694acf"/>
    <p:sldId xmlns:r="http://schemas.openxmlformats.org/officeDocument/2006/relationships" id="261" r:id="R97db5b2bf7aa43df"/>
    <p:sldId xmlns:r="http://schemas.openxmlformats.org/officeDocument/2006/relationships" id="262" r:id="Rce302cbedda34e2c"/>
    <p:sldId xmlns:r="http://schemas.openxmlformats.org/officeDocument/2006/relationships" id="263" r:id="R7e2e42ae04234d5f"/>
    <p:sldId xmlns:r="http://schemas.openxmlformats.org/officeDocument/2006/relationships" id="264" r:id="R05d7a6f4546c4019"/>
    <p:sldId xmlns:r="http://schemas.openxmlformats.org/officeDocument/2006/relationships" id="265" r:id="R1c6b3ea373e14fbb"/>
    <p:sldId xmlns:r="http://schemas.openxmlformats.org/officeDocument/2006/relationships" id="266" r:id="R12d618177f2c4c1f"/>
    <p:sldId xmlns:r="http://schemas.openxmlformats.org/officeDocument/2006/relationships" id="267" r:id="Rcbcad9796831407f"/>
    <p:sldId xmlns:r="http://schemas.openxmlformats.org/officeDocument/2006/relationships" id="268" r:id="R46100f677f244e70"/>
    <p:sldId xmlns:r="http://schemas.openxmlformats.org/officeDocument/2006/relationships" id="269" r:id="R51bd3a7553d24227"/>
    <p:sldId xmlns:r="http://schemas.openxmlformats.org/officeDocument/2006/relationships" id="270" r:id="R48baac8569034414"/>
    <p:sldId xmlns:r="http://schemas.openxmlformats.org/officeDocument/2006/relationships" id="271" r:id="R50a82a3bd67242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66e0929533469c" /><Relationship Type="http://schemas.openxmlformats.org/officeDocument/2006/relationships/slideMaster" Target="/ppt/slideMasters/slideMaster1.xml" Id="R19d358ce5e9c460d" /><Relationship Type="http://schemas.openxmlformats.org/officeDocument/2006/relationships/notesMaster" Target="/ppt/notesMasters/notesMaster1.xml" Id="R16eeb685a2c94ee9" /><Relationship Type="http://schemas.openxmlformats.org/officeDocument/2006/relationships/presProps" Target="/ppt/presProps.xml" Id="Rf917cbc85b044fb0" /><Relationship Type="http://schemas.openxmlformats.org/officeDocument/2006/relationships/tableStyles" Target="/ppt/tableStyles.xml" Id="Rc0e3be40ae314680" /><Relationship Type="http://schemas.openxmlformats.org/officeDocument/2006/relationships/slide" Target="/ppt/slides/slide1.xml" Id="Rd7f41a84c8f549c4" /><Relationship Type="http://schemas.openxmlformats.org/officeDocument/2006/relationships/slide" Target="/ppt/slides/slide2.xml" Id="R1c7e887345cd426e" /><Relationship Type="http://schemas.openxmlformats.org/officeDocument/2006/relationships/slide" Target="/ppt/slides/slide3.xml" Id="Rbca060173dd94ed9" /><Relationship Type="http://schemas.openxmlformats.org/officeDocument/2006/relationships/slide" Target="/ppt/slides/slide4.xml" Id="Re06c47a6096e4788" /><Relationship Type="http://schemas.openxmlformats.org/officeDocument/2006/relationships/slide" Target="/ppt/slides/slide5.xml" Id="R14d3096968694acf" /><Relationship Type="http://schemas.openxmlformats.org/officeDocument/2006/relationships/slide" Target="/ppt/slides/slide6.xml" Id="R97db5b2bf7aa43df" /><Relationship Type="http://schemas.openxmlformats.org/officeDocument/2006/relationships/slide" Target="/ppt/slides/slide7.xml" Id="Rce302cbedda34e2c" /><Relationship Type="http://schemas.openxmlformats.org/officeDocument/2006/relationships/slide" Target="/ppt/slides/slide8.xml" Id="R7e2e42ae04234d5f" /><Relationship Type="http://schemas.openxmlformats.org/officeDocument/2006/relationships/slide" Target="/ppt/slides/slide9.xml" Id="R05d7a6f4546c4019" /><Relationship Type="http://schemas.openxmlformats.org/officeDocument/2006/relationships/slide" Target="/ppt/slides/slide10.xml" Id="R1c6b3ea373e14fbb" /><Relationship Type="http://schemas.openxmlformats.org/officeDocument/2006/relationships/slide" Target="/ppt/slides/slide11.xml" Id="R12d618177f2c4c1f" /><Relationship Type="http://schemas.openxmlformats.org/officeDocument/2006/relationships/slide" Target="/ppt/slides/slide12.xml" Id="Rcbcad9796831407f" /><Relationship Type="http://schemas.openxmlformats.org/officeDocument/2006/relationships/slide" Target="/ppt/slides/slide13.xml" Id="R46100f677f244e70" /><Relationship Type="http://schemas.openxmlformats.org/officeDocument/2006/relationships/slide" Target="/ppt/slides/slide14.xml" Id="R51bd3a7553d24227" /><Relationship Type="http://schemas.openxmlformats.org/officeDocument/2006/relationships/slide" Target="/ppt/slides/slide15.xml" Id="R48baac8569034414" /><Relationship Type="http://schemas.openxmlformats.org/officeDocument/2006/relationships/slide" Target="/ppt/slides/slide16.xml" Id="R50a82a3bd67242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63e31d6bb446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8fa2260d45465d" /><Relationship Type="http://schemas.openxmlformats.org/officeDocument/2006/relationships/notesMaster" Target="/ppt/notesMasters/notesMaster1.xml" Id="Rb1789f33f8314b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979ef4981a4c0b" /><Relationship Type="http://schemas.openxmlformats.org/officeDocument/2006/relationships/notesMaster" Target="/ppt/notesMasters/notesMaster1.xml" Id="R3236d3da27bf4d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23f98a7d7842e3" /><Relationship Type="http://schemas.openxmlformats.org/officeDocument/2006/relationships/notesMaster" Target="/ppt/notesMasters/notesMaster1.xml" Id="Ra9e8f1aa92b645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3581b59e48479a" /><Relationship Type="http://schemas.openxmlformats.org/officeDocument/2006/relationships/notesMaster" Target="/ppt/notesMasters/notesMaster1.xml" Id="Rbf8390b134c941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da714f3c384e31" /><Relationship Type="http://schemas.openxmlformats.org/officeDocument/2006/relationships/notesMaster" Target="/ppt/notesMasters/notesMaster1.xml" Id="R3b85f42354a84c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ef70d2d0d44f66" /><Relationship Type="http://schemas.openxmlformats.org/officeDocument/2006/relationships/notesMaster" Target="/ppt/notesMasters/notesMaster1.xml" Id="R64c37c511dce4c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4fabeeffbb49fc" /><Relationship Type="http://schemas.openxmlformats.org/officeDocument/2006/relationships/notesMaster" Target="/ppt/notesMasters/notesMaster1.xml" Id="R41e13255bec041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23d56dd5974fa0" /><Relationship Type="http://schemas.openxmlformats.org/officeDocument/2006/relationships/notesMaster" Target="/ppt/notesMasters/notesMaster1.xml" Id="R207e5202c83d4a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c3e13e8be349d4" /><Relationship Type="http://schemas.openxmlformats.org/officeDocument/2006/relationships/notesMaster" Target="/ppt/notesMasters/notesMaster1.xml" Id="R82ab242daa4043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e69fedcf524f0e" /><Relationship Type="http://schemas.openxmlformats.org/officeDocument/2006/relationships/notesMaster" Target="/ppt/notesMasters/notesMaster1.xml" Id="Re20b53a3538542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f11c4c282b4dc9" /><Relationship Type="http://schemas.openxmlformats.org/officeDocument/2006/relationships/notesMaster" Target="/ppt/notesMasters/notesMaster1.xml" Id="R1a13fed3f02447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f60b5469fc4264" /><Relationship Type="http://schemas.openxmlformats.org/officeDocument/2006/relationships/notesMaster" Target="/ppt/notesMasters/notesMaster1.xml" Id="R6633aa9287d04d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6397ebe7974859" /><Relationship Type="http://schemas.openxmlformats.org/officeDocument/2006/relationships/notesMaster" Target="/ppt/notesMasters/notesMaster1.xml" Id="R824e84ea614d46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cc012da477423a" /><Relationship Type="http://schemas.openxmlformats.org/officeDocument/2006/relationships/notesMaster" Target="/ppt/notesMasters/notesMaster1.xml" Id="R4393d023df6241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72d115b2724fe0" /><Relationship Type="http://schemas.openxmlformats.org/officeDocument/2006/relationships/notesMaster" Target="/ppt/notesMasters/notesMaster1.xml" Id="R0f0e7f524c7143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117b6a6cc84458" /><Relationship Type="http://schemas.openxmlformats.org/officeDocument/2006/relationships/notesMaster" Target="/ppt/notesMasters/notesMaster1.xml" Id="Rdb05d6dbce9943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d592da85f4c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815736b1d41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65b4c08094c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34c0c13c64c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f33b519dd46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d7ed4b4624f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250828-75C6-4C76-830A-F3CF42BFF1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38945E0-803B-4BA3-80B2-C987938FC9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26C079-8D7D-4ED9-B2D7-7CF13D2DD6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7740AF-9448-48C5-A16F-60E67C081F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01CA8E-5E86-4451-B32A-CF8602CCB1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67E063-3CA2-485D-88A9-EE950BE98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C14EE4-D18D-4C67-BC8F-309182578F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64E109-C7D2-4DAA-8ED3-4C64CBA4B6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9E83FF-E814-4EA9-BEA7-8F564A46D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70DCC6-39DD-4C50-A721-9632AC2217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9b36338ab142f1" /><Relationship Type="http://schemas.openxmlformats.org/officeDocument/2006/relationships/slideLayout" Target="/ppt/slideLayouts/slideLayout1.xml" Id="Re3a6239d440c4e8b" /><Relationship Type="http://schemas.openxmlformats.org/officeDocument/2006/relationships/slideLayout" Target="/ppt/slideLayouts/slideLayout2.xml" Id="R35ccab8628f34b7c" /><Relationship Type="http://schemas.openxmlformats.org/officeDocument/2006/relationships/slideLayout" Target="/ppt/slideLayouts/slideLayout3.xml" Id="R5bd1d76a0a1e4035" /><Relationship Type="http://schemas.openxmlformats.org/officeDocument/2006/relationships/slideLayout" Target="/ppt/slideLayouts/slideLayout4.xml" Id="R3e8a085f6a8648f6" /><Relationship Type="http://schemas.openxmlformats.org/officeDocument/2006/relationships/slideLayout" Target="/ppt/slideLayouts/slideLayout5.xml" Id="R697382e18ce248b2" /><Relationship Type="http://schemas.openxmlformats.org/officeDocument/2006/relationships/slideLayout" Target="/ppt/slideLayouts/slideLayout6.xml" Id="Ref63db843a5642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a6239d440c4e8b"/>
    <p:sldLayoutId xmlns:r="http://schemas.openxmlformats.org/officeDocument/2006/relationships" id="2147483650" r:id="R35ccab8628f34b7c"/>
    <p:sldLayoutId xmlns:r="http://schemas.openxmlformats.org/officeDocument/2006/relationships" id="2147483651" r:id="R5bd1d76a0a1e4035"/>
    <p:sldLayoutId xmlns:r="http://schemas.openxmlformats.org/officeDocument/2006/relationships" id="2147483652" r:id="R3e8a085f6a8648f6"/>
    <p:sldLayoutId xmlns:r="http://schemas.openxmlformats.org/officeDocument/2006/relationships" id="2147483653" r:id="R697382e18ce248b2"/>
    <p:sldLayoutId xmlns:r="http://schemas.openxmlformats.org/officeDocument/2006/relationships" id="2147483654" r:id="Ref63db843a5642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d9135372774f90" /><Relationship Type="http://schemas.openxmlformats.org/officeDocument/2006/relationships/image" Target="/ppt/media/image.png" Id="R41d0040ab6ca4ee6" /><Relationship Type="http://schemas.openxmlformats.org/officeDocument/2006/relationships/image" Target="/ppt/media/image2.png" Id="Rd38b1756927447a4" /><Relationship Type="http://schemas.openxmlformats.org/officeDocument/2006/relationships/notesSlide" Target="/ppt/notesSlides/notesSlide1.xml" Id="Rb372444547d943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9a6b7a5864dfb" /><Relationship Type="http://schemas.openxmlformats.org/officeDocument/2006/relationships/notesSlide" Target="/ppt/notesSlides/notesSlide2.xml" Id="Rda7ff3a6d03241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ed06d3759c4b31" /><Relationship Type="http://schemas.openxmlformats.org/officeDocument/2006/relationships/notesSlide" Target="/ppt/notesSlides/notesSlide3.xml" Id="R9a5eb98f6a3440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037d2860a449d1" /><Relationship Type="http://schemas.openxmlformats.org/officeDocument/2006/relationships/notesSlide" Target="/ppt/notesSlides/notesSlide4.xml" Id="Rbd499212343345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104931898844e3" /><Relationship Type="http://schemas.openxmlformats.org/officeDocument/2006/relationships/notesSlide" Target="/ppt/notesSlides/notesSlide5.xml" Id="Ra34e9108a6ef4d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b1c848ecae4739" /><Relationship Type="http://schemas.openxmlformats.org/officeDocument/2006/relationships/notesSlide" Target="/ppt/notesSlides/notesSlide6.xml" Id="Rc8ffc0c31d854c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54ec2703b4fa3" /><Relationship Type="http://schemas.openxmlformats.org/officeDocument/2006/relationships/notesSlide" Target="/ppt/notesSlides/notesSlide7.xml" Id="R56054bfff66d48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238d9bd834f97" /><Relationship Type="http://schemas.openxmlformats.org/officeDocument/2006/relationships/notesSlide" Target="/ppt/notesSlides/notesSlide8.xml" Id="R94734a19ac1145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576aa9b0c4d8a" /><Relationship Type="http://schemas.openxmlformats.org/officeDocument/2006/relationships/image" Target="/ppt/media/image3.png" Id="R3ca25174e5ce4bff" /><Relationship Type="http://schemas.openxmlformats.org/officeDocument/2006/relationships/notesSlide" Target="/ppt/notesSlides/notesSlide9.xml" Id="R36b45dbe67a848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2360d86c147be" /><Relationship Type="http://schemas.openxmlformats.org/officeDocument/2006/relationships/image" Target="/ppt/media/image4.png" Id="Rbd8fc88159754eb0" /><Relationship Type="http://schemas.openxmlformats.org/officeDocument/2006/relationships/notesSlide" Target="/ppt/notesSlides/notesSlide10.xml" Id="R39052f6bb4ad49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78b890bbf24f18" /><Relationship Type="http://schemas.openxmlformats.org/officeDocument/2006/relationships/notesSlide" Target="/ppt/notesSlides/notesSlide11.xml" Id="Rcb080d4088ef4c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63f98928724f4e" /><Relationship Type="http://schemas.openxmlformats.org/officeDocument/2006/relationships/notesSlide" Target="/ppt/notesSlides/notesSlide12.xml" Id="R769db5642bf344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aa6a02f7af410e" /><Relationship Type="http://schemas.openxmlformats.org/officeDocument/2006/relationships/notesSlide" Target="/ppt/notesSlides/notesSlide13.xml" Id="R2076bdfe901b46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96ca9fe8f4688" /><Relationship Type="http://schemas.openxmlformats.org/officeDocument/2006/relationships/notesSlide" Target="/ppt/notesSlides/notesSlide14.xml" Id="Rd39f217b92a34c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47ffd7f8a14b91" /><Relationship Type="http://schemas.openxmlformats.org/officeDocument/2006/relationships/notesSlide" Target="/ppt/notesSlides/notesSlide15.xml" Id="R1fbb9ce8ae8449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fc58c79af47f8" /><Relationship Type="http://schemas.openxmlformats.org/officeDocument/2006/relationships/notesSlide" Target="/ppt/notesSlides/notesSlide16.xml" Id="R08ec55f1bb894c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B66ED-382D-409B-AC28-14991FC0B8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0040ab6ca4ee6"/>
          <a:srcRect xmlns:a="http://schemas.openxmlformats.org/drawingml/2006/main" l="19515" t="0" r="195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21A78-2626-4E72-A0AD-D454ECB1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8A327-7250-490C-8F45-C585B8A06E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b1756927447a4"/>
          <a:stretch xmlns:a="http://schemas.openxmlformats.org/drawingml/2006/main"/>
        </p:blipFill>
        <p:spPr>
          <a:xfrm xmlns:a="http://schemas.openxmlformats.org/drawingml/2006/main">
            <a:off x="609600" y="517056"/>
            <a:ext cx="1809750" cy="45178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0F2EF-79F7-4F95-AFE6-9416ADD5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0A5FA"/>
                </a:solidFill>
              </a:defRPr>
            </a:pPr>
            <a:r>
              <a:rPr sz="825" b="1" i="0">
                <a:solidFill>
                  <a:srgbClr val="60A5FA"/>
                </a:solidFill>
              </a:rPr>
              <a:t>INTELIGÊNCIA EM CRÉDITO E RECEBÍVEIS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AF39D-04A8-4856-9712-75798159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476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7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FFFFFF"/>
                </a:solidFill>
              </a:defRPr>
            </a:pPr>
            <a:r>
              <a:rPr sz="3375" b="1" i="0">
                <a:solidFill>
                  <a:srgbClr val="FFFFFF"/>
                </a:solidFill>
              </a:rPr>
              <a:t>Plataforma operacional</a:t>
            </a:r>
          </a:p>
          <a:p xmlns:a="http://schemas.openxmlformats.org/drawingml/2006/main">
            <a:pPr algn="l">
              <a:defRPr sz="3375" b="1" i="0">
                <a:solidFill>
                  <a:srgbClr val="FFFFFF"/>
                </a:solidFill>
              </a:defRPr>
            </a:pPr>
            <a:r>
              <a:rPr sz="3375" b="1" i="0">
                <a:solidFill>
                  <a:srgbClr val="FFFFFF"/>
                </a:solidFill>
              </a:rPr>
              <a:t>para crédito e recebíveis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D3A46-9EED-42A8-83BD-CE648366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C7CDD6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C7CDD6"/>
                </a:solidFill>
              </a:defRPr>
            </a:pPr>
            <a:r>
              <a:rPr sz="1500" b="0" i="0">
                <a:solidFill>
                  <a:srgbClr val="C7CDD6"/>
                </a:solidFill>
              </a:rPr>
              <a:t>Conceito, posicionamento comercial e visão tecnológica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9A584-A608-4D18-A64F-A22D4186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A7D3B-B21F-41BC-A59C-BCE450A1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8993A3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8993A3"/>
                </a:solidFill>
              </a:defRPr>
            </a:pPr>
            <a:r>
              <a:rPr sz="1125" b="0" i="0">
                <a:solidFill>
                  <a:srgbClr val="8993A3"/>
                </a:solidFill>
              </a:rPr>
              <a:t>Apresentação para parceiro de negócios</a:t>
            </a:r>
          </a:p>
          <a:p xmlns:a="http://schemas.openxmlformats.org/drawingml/2006/main">
            <a:pPr algn="l">
              <a:defRPr sz="1125" b="0" i="0">
                <a:solidFill>
                  <a:srgbClr val="8993A3"/>
                </a:solidFill>
              </a:defRPr>
            </a:pPr>
            <a:r>
              <a:rPr sz="1125" b="0" i="0">
                <a:solidFill>
                  <a:srgbClr val="8993A3"/>
                </a:solidFill>
              </a:rPr>
              <a:t>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257921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D29F8-28F7-4E35-AD99-52CCB62D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TESE EXECUTIVA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1640F-3C54-4FCE-A1DF-D1B0025A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0B0D12"/>
                </a:solidFill>
              </a:defRPr>
            </a:pPr>
            <a:r>
              <a:rPr sz="2850" b="1" i="0">
                <a:solidFill>
                  <a:srgbClr val="0B0D12"/>
                </a:solidFill>
              </a:rPr>
              <a:t>Uma tese de substituição com receita recorrente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6B095-434F-4470-9252-C8FF7898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97180"/>
                </a:solidFill>
              </a:defRPr>
            </a:pPr>
            <a:r>
              <a:rPr sz="1350" b="0" i="0">
                <a:solidFill>
                  <a:srgbClr val="697180"/>
                </a:solidFill>
              </a:rPr>
              <a:t>O STRATO nasce para assumir o trabalho principal do ERP operacional, com um núcleo replicável por cliente.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6CCD2-854E-4FF4-92A4-C17CA958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2563EB"/>
                </a:solidFill>
              </a:defRPr>
            </a:pPr>
            <a:r>
              <a:rPr sz="1875" b="1" i="0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6B065-5709-4546-915E-A02E616F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57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0D12"/>
                </a:solidFill>
              </a:defRPr>
            </a:pPr>
            <a:r>
              <a:rPr sz="1725" b="1" i="0">
                <a:solidFill>
                  <a:srgbClr val="0B0D12"/>
                </a:solidFill>
              </a:rPr>
              <a:t>Substituição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2A09D-3C94-46DA-BD8F-7A9A0488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384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697180"/>
                </a:solidFill>
              </a:defRPr>
            </a:pPr>
            <a:r>
              <a:rPr sz="1200" b="0" i="0">
                <a:solidFill>
                  <a:srgbClr val="697180"/>
                </a:solidFill>
              </a:rPr>
              <a:t>A plataforma cobre aquisição, formalização, carteira, liquidação, cobrança, recompra e controle.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CA017-6999-4195-B2CB-32627FD5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2563EB"/>
                </a:solidFill>
              </a:defRPr>
            </a:pPr>
            <a:r>
              <a:rPr sz="1875" b="1" i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C47AE-4AEE-4064-8365-50BCA49D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861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0D12"/>
                </a:solidFill>
              </a:defRPr>
            </a:pPr>
            <a:r>
              <a:rPr sz="1725" b="1" i="0">
                <a:solidFill>
                  <a:srgbClr val="0B0D12"/>
                </a:solidFill>
              </a:rPr>
              <a:t>Automação nativa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5423A-1936-4832-BE90-571F8C5C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697180"/>
                </a:solidFill>
              </a:defRPr>
            </a:pPr>
            <a:r>
              <a:rPr sz="1200" b="0" i="0">
                <a:solidFill>
                  <a:srgbClr val="697180"/>
                </a:solidFill>
              </a:rPr>
              <a:t>Regras determinísticas reduzem retrabalho e sustentam decisões auditáveis sem depender de 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7380E-F830-4A3C-AADF-6FE93475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2563EB"/>
                </a:solidFill>
              </a:defRPr>
            </a:pPr>
            <a:r>
              <a:rPr sz="1875" b="1" i="0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A4D69-0C93-4781-BC33-26A80966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14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0D12"/>
                </a:solidFill>
              </a:defRPr>
            </a:pPr>
            <a:r>
              <a:rPr sz="1725" b="1" i="0">
                <a:solidFill>
                  <a:srgbClr val="0B0D12"/>
                </a:solidFill>
              </a:rPr>
              <a:t>Produto escalável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5E612-A190-413F-A63F-7C4F8316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959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697180"/>
                </a:solidFill>
              </a:defRPr>
            </a:pPr>
            <a:r>
              <a:rPr sz="1200" b="0" i="0">
                <a:solidFill>
                  <a:srgbClr val="697180"/>
                </a:solidFill>
              </a:rPr>
              <a:t>Configurações absorvem diferenças entre clientes sem criar versões exclusivas do software.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F565F-8C17-4890-A497-CAA73B8F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15B99-4840-45A7-A085-C8215602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4315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0B0D12"/>
                </a:solidFill>
              </a:defRPr>
            </a:pPr>
            <a:r>
              <a:rPr sz="2325" b="1" i="0">
                <a:solidFill>
                  <a:srgbClr val="0B0D12"/>
                </a:solidFill>
              </a:rPr>
              <a:t>TODA A OPERAÇÃO</a:t>
            </a:r>
          </a:p>
          <a:p xmlns:a="http://schemas.openxmlformats.org/drawingml/2006/main">
            <a:pPr algn="l">
              <a:defRPr sz="2325" b="1" i="0">
                <a:solidFill>
                  <a:srgbClr val="0B0D12"/>
                </a:solidFill>
              </a:defRPr>
            </a:pPr>
            <a:r>
              <a:rPr sz="2325" b="1" i="0">
                <a:solidFill>
                  <a:srgbClr val="0B0D12"/>
                </a:solidFill>
              </a:rPr>
              <a:t>DE RECEBÍVEIS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C52C8-04FF-4A02-9E78-B4AA81EC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8615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2563EB"/>
                </a:solidFill>
              </a:defRPr>
            </a:pPr>
            <a:r>
              <a:rPr sz="2325" b="1" i="0">
                <a:solidFill>
                  <a:srgbClr val="2563EB"/>
                </a:solidFill>
              </a:rPr>
              <a:t>EM UMA ÚNICA</a:t>
            </a:r>
          </a:p>
          <a:p xmlns:a="http://schemas.openxmlformats.org/drawingml/2006/main">
            <a:pPr algn="l">
              <a:defRPr sz="2325" b="1" i="0">
                <a:solidFill>
                  <a:srgbClr val="2563EB"/>
                </a:solidFill>
              </a:defRPr>
            </a:pPr>
            <a:r>
              <a:rPr sz="2325" b="1" i="0">
                <a:solidFill>
                  <a:srgbClr val="2563EB"/>
                </a:solidFill>
              </a:rPr>
              <a:t>PLATAFORMA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4BBF0-C516-4E61-8A76-94EF3B97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577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97180"/>
                </a:solidFill>
              </a:defRPr>
            </a:pPr>
            <a:r>
              <a:rPr sz="1275" b="0" i="0">
                <a:solidFill>
                  <a:srgbClr val="697180"/>
                </a:solidFill>
              </a:rPr>
              <a:t>SaaS B2B especializado em securitizadoras e operações de FIDCs de pequeno e médio porte.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61EDD-3502-4377-B0C7-8A95B1E1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EF3FF-A508-41C5-8346-DAA84550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8A919D"/>
                </a:solidFill>
              </a:defRPr>
            </a:pPr>
            <a:r>
              <a:rPr sz="750" b="0" i="0">
                <a:solidFill>
                  <a:srgbClr val="8A919D"/>
                </a:solidFill>
              </a:rPr>
              <a:t>Visão de produto para discussão com parceiro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C9B83-C6C8-4148-AD01-0717EC2D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8A919D"/>
                </a:solidFill>
              </a:defRPr>
            </a:pPr>
            <a:r>
              <a:rPr sz="750" b="1" i="0">
                <a:solidFill>
                  <a:srgbClr val="8A919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3482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56626-6E47-4B35-BC38-671C63B8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0A5FA"/>
                </a:solidFill>
              </a:defRPr>
            </a:pPr>
            <a:r>
              <a:rPr sz="825" b="1" i="0">
                <a:solidFill>
                  <a:srgbClr val="60A5FA"/>
                </a:solidFill>
              </a:rPr>
              <a:t>CONTEXTO DE MERCADO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AC1E0-6B0C-424A-B15E-B93FF280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A operação ainda convive com fragmentação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4EE2A-C889-4A88-ADB9-9A7D5102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B6BDC8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B6BDC8"/>
                </a:solidFill>
              </a:defRPr>
            </a:pPr>
            <a:r>
              <a:rPr sz="1350" b="0" i="0">
                <a:solidFill>
                  <a:srgbClr val="B6BDC8"/>
                </a:solidFill>
              </a:rPr>
              <a:t>O custo aparece em tarefas manuais, baixa visibilidade e dependência de sistemas que não conversam entre 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42B3B-96F7-42FC-9420-BF2E3946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60A5FA"/>
                </a:solidFill>
              </a:defRPr>
            </a:pPr>
            <a:r>
              <a:rPr sz="1050" b="1" i="0">
                <a:solidFill>
                  <a:srgbClr val="60A5F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D0FCB-7207-463C-81BD-A6E7C773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16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Processos dispersos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89D76-488E-46ED-893E-2D278AF4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9072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EB6C2"/>
                </a:solidFill>
              </a:defRPr>
            </a:pPr>
            <a:r>
              <a:rPr sz="1200" b="0" i="0">
                <a:solidFill>
                  <a:srgbClr val="AEB6C2"/>
                </a:solidFill>
              </a:rPr>
              <a:t>ERP legado, planilhas, portais e controles paralelos dividem a mesma operação.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96E07-612D-4CA7-833D-9D491B10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3A818-7378-499D-9C08-A3D0C355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60A5FA"/>
                </a:solidFill>
              </a:defRPr>
            </a:pPr>
            <a:r>
              <a:rPr sz="1050" b="1" i="0">
                <a:solidFill>
                  <a:srgbClr val="60A5FA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068DF-49D0-4277-B0E1-A846FE85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Exceções fora do fluxo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F47E0-C008-46DA-BB47-0B86EE31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622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EB6C2"/>
                </a:solidFill>
              </a:defRPr>
            </a:pPr>
            <a:r>
              <a:rPr sz="1200" b="0" i="0">
                <a:solidFill>
                  <a:srgbClr val="AEB6C2"/>
                </a:solidFill>
              </a:rPr>
              <a:t>Pendências críticas perdem contexto e exigem investigação manual entre áreas.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BF463-4247-4047-8642-B1A03684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909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07FB2-95CC-4A8C-9AB3-0C3584D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60A5FA"/>
                </a:solidFill>
              </a:defRPr>
            </a:pPr>
            <a:r>
              <a:rPr sz="1050" b="1" i="0">
                <a:solidFill>
                  <a:srgbClr val="60A5F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ACBDF-8225-4648-A25F-4F63C570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147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Integrações frágeis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97B15-151B-473A-BF3D-CC21E0FF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3382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EB6C2"/>
                </a:solidFill>
              </a:defRPr>
            </a:pPr>
            <a:r>
              <a:rPr sz="1200" b="0" i="0">
                <a:solidFill>
                  <a:srgbClr val="AEB6C2"/>
                </a:solidFill>
              </a:rPr>
              <a:t>Remessas, retornos e confirmações dependem de rotinas pouco observáveis.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7B7A9-CC2E-46CE-96BE-9A249930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624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1AA69-E974-40CD-86E7-C44DF688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60A5FA"/>
                </a:solidFill>
              </a:defRPr>
            </a:pPr>
            <a:r>
              <a:rPr sz="1050" b="1" i="0">
                <a:solidFill>
                  <a:srgbClr val="60A5FA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2008F-FCB2-46BB-9A26-C0BFD6B7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863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Evolução cara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014CA-7589-43F8-B468-2364FCA8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053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EB6C2"/>
                </a:solidFill>
              </a:defRPr>
            </a:pPr>
            <a:r>
              <a:rPr sz="1200" b="0" i="0">
                <a:solidFill>
                  <a:srgbClr val="AEB6C2"/>
                </a:solidFill>
              </a:rPr>
              <a:t>Customizações exclusivas tornam cada mudança mais lenta e arriscada.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571B9-0293-4E61-9C2D-580D1B36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340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E5BB4-C613-41B3-80AD-ECA9E7F9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5C459-0811-416B-A4B1-CDF05637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737C8B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737C8B"/>
                </a:solidFill>
              </a:defRPr>
            </a:pPr>
            <a:r>
              <a:rPr sz="750" b="0" i="0">
                <a:solidFill>
                  <a:srgbClr val="737C8B"/>
                </a:solidFill>
              </a:rPr>
              <a:t>Visão de produto para discussão com parceiro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173C0-F857-4CA4-9F31-578EE4FB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737C8B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737C8B"/>
                </a:solidFill>
              </a:defRPr>
            </a:pPr>
            <a:r>
              <a:rPr sz="750" b="1" i="0">
                <a:solidFill>
                  <a:srgbClr val="737C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3599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0098A2-8FFE-418B-A453-B91CD753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POSICIONAMENTO COMERCIAL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D74DE-91D0-48E3-8694-4697D3F8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0B0D12"/>
                </a:solidFill>
              </a:defRPr>
            </a:pPr>
            <a:r>
              <a:rPr sz="2850" b="1" i="0">
                <a:solidFill>
                  <a:srgbClr val="0B0D12"/>
                </a:solidFill>
              </a:rPr>
              <a:t>ERP operacional de crédito e recebíveis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975E4-377F-437B-8E94-31B94B4A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97180"/>
                </a:solidFill>
              </a:defRPr>
            </a:pPr>
            <a:r>
              <a:rPr sz="1350" b="0" i="0">
                <a:solidFill>
                  <a:srgbClr val="697180"/>
                </a:solidFill>
              </a:rPr>
              <a:t>Especialização setorial com gestão de ponta a ponta, automação, rastreabilidade e conectividade.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06A8C-D323-43BF-91D2-69241F46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POSIÇÃO PRETENDIDA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978B9-09FD-4A56-920B-931C8763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38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0B0D12"/>
                </a:solidFill>
              </a:defRPr>
            </a:pPr>
            <a:r>
              <a:rPr sz="2625" b="1" i="0">
                <a:solidFill>
                  <a:srgbClr val="0B0D12"/>
                </a:solidFill>
              </a:rPr>
              <a:t>Sistema operacional</a:t>
            </a:r>
          </a:p>
          <a:p xmlns:a="http://schemas.openxmlformats.org/drawingml/2006/main">
            <a:pPr algn="l">
              <a:defRPr sz="2625" b="1" i="0">
                <a:solidFill>
                  <a:srgbClr val="0B0D12"/>
                </a:solidFill>
              </a:defRPr>
            </a:pPr>
            <a:r>
              <a:rPr sz="2625" b="1" i="0">
                <a:solidFill>
                  <a:srgbClr val="0B0D12"/>
                </a:solidFill>
              </a:rPr>
              <a:t>de referência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EDB15-1899-42F3-BCF1-11C2FD43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697180"/>
                </a:solidFill>
              </a:defRPr>
            </a:pPr>
            <a:r>
              <a:rPr sz="1425" b="0" i="0">
                <a:solidFill>
                  <a:srgbClr val="697180"/>
                </a:solidFill>
              </a:rPr>
              <a:t>O STRATO concentra a execução contratada e mantém prestadores externos responsáveis por suas atribuições específicas.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83A7B-6791-4A44-A976-BAE88188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5429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D1847-D267-40F8-9970-AA5D3918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431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2563EB"/>
                </a:solidFill>
              </a:defRPr>
            </a:pPr>
            <a:r>
              <a:rPr sz="750" b="1" i="0">
                <a:solidFill>
                  <a:srgbClr val="2563EB"/>
                </a:solidFill>
              </a:rPr>
              <a:t>PROFUNDIDADE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06C68-E1C7-411D-971A-9177F2DB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145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B0D12"/>
                </a:solidFill>
              </a:defRPr>
            </a:pPr>
            <a:r>
              <a:rPr sz="1350" b="1" i="0">
                <a:solidFill>
                  <a:srgbClr val="0B0D12"/>
                </a:solidFill>
              </a:rPr>
              <a:t>Executa o ciclo operacional principal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EF3B6-6B80-4699-8148-3B481FF8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05100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471F7-1E20-487A-9FBB-A8A3300C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8132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2563EB"/>
                </a:solidFill>
              </a:defRPr>
            </a:pPr>
            <a:r>
              <a:rPr sz="750" b="1" i="0">
                <a:solidFill>
                  <a:srgbClr val="2563EB"/>
                </a:solidFill>
              </a:rPr>
              <a:t>ESPECIALIZAÇÃO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652BE-B30D-47CA-A96D-6260366F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527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B0D12"/>
                </a:solidFill>
              </a:defRPr>
            </a:pPr>
            <a:r>
              <a:rPr sz="1350" b="1" i="0">
                <a:solidFill>
                  <a:srgbClr val="0B0D12"/>
                </a:solidFill>
              </a:rPr>
              <a:t>Securitizadoras e operações de FIDC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F063F-6C17-42F5-9793-69EF6E85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43275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AAD1B-3E99-4FE9-9614-3536CB29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195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2563EB"/>
                </a:solidFill>
              </a:defRPr>
            </a:pPr>
            <a:r>
              <a:rPr sz="750" b="1" i="0">
                <a:solidFill>
                  <a:srgbClr val="2563EB"/>
                </a:solidFill>
              </a:rPr>
              <a:t>ESCALA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A7266-1A38-4E7D-87AC-6B54E3CB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909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B0D12"/>
                </a:solidFill>
              </a:defRPr>
            </a:pPr>
            <a:r>
              <a:rPr sz="1350" b="1" i="0">
                <a:solidFill>
                  <a:srgbClr val="0B0D12"/>
                </a:solidFill>
              </a:rPr>
              <a:t>Núcleo comum com configurações por cliente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C5562-3A8E-4361-803C-E7D5CFD0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81450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47026-A768-4DB6-902D-732F13D4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576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2563EB"/>
                </a:solidFill>
              </a:defRPr>
            </a:pPr>
            <a:r>
              <a:rPr sz="750" b="1" i="0">
                <a:solidFill>
                  <a:srgbClr val="2563EB"/>
                </a:solidFill>
              </a:rPr>
              <a:t>EVOLUÇÃO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7C025-17BB-4B05-8633-D3B3DDC7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291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B0D12"/>
                </a:solidFill>
              </a:defRPr>
            </a:pPr>
            <a:r>
              <a:rPr sz="1350" b="1" i="0">
                <a:solidFill>
                  <a:srgbClr val="0B0D12"/>
                </a:solidFill>
              </a:rPr>
              <a:t>Automação primeiro, IA como capacidade adicional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09BE3-02EE-4F89-A86E-459F7404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6735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2563EB"/>
                </a:solidFill>
              </a:defRPr>
            </a:pPr>
            <a:r>
              <a:rPr sz="1200" b="1" i="0">
                <a:solidFill>
                  <a:srgbClr val="2563EB"/>
                </a:solidFill>
              </a:rPr>
              <a:t>Produto substituto do ERP legado, sem depender de uma camada complementar para executar o trabalho principal.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952F8-6793-49AF-A0A1-21B78E39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2ECF8-A796-413D-92B9-EB22E0A9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8A919D"/>
                </a:solidFill>
              </a:defRPr>
            </a:pPr>
            <a:r>
              <a:rPr sz="750" b="0" i="0">
                <a:solidFill>
                  <a:srgbClr val="8A919D"/>
                </a:solidFill>
              </a:rPr>
              <a:t>Visão de produto para discussão com parceiro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B9FB3-9094-4F8E-9A1B-FFA1073D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8A919D"/>
                </a:solidFill>
              </a:defRPr>
            </a:pPr>
            <a:r>
              <a:rPr sz="750" b="1" i="0">
                <a:solidFill>
                  <a:srgbClr val="8A919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3148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313FC-5FD1-43EF-81BA-A271C18D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MERCADO PRIORITÁRIO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89FBD-8625-4B4D-A047-A9BB9EC0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0B0D12"/>
                </a:solidFill>
              </a:defRPr>
            </a:pPr>
            <a:r>
              <a:rPr sz="2850" b="1" i="0">
                <a:solidFill>
                  <a:srgbClr val="0B0D12"/>
                </a:solidFill>
              </a:rPr>
              <a:t>Dois segmentos com uma base operacional comum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68483-31A0-479F-BDE1-E63C2114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97180"/>
                </a:solidFill>
              </a:defRPr>
            </a:pPr>
            <a:r>
              <a:rPr sz="1350" b="0" i="0">
                <a:solidFill>
                  <a:srgbClr val="697180"/>
                </a:solidFill>
              </a:rPr>
              <a:t>O produto atende organizações de pequeno e médio porte que precisam ganhar controle sem sustentar uma plataforma própria.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F20EA-DA8B-4507-A245-312ADB5E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2563EB"/>
                </a:solidFill>
              </a:defRPr>
            </a:pPr>
            <a:r>
              <a:rPr sz="1050" b="1" i="0">
                <a:solidFill>
                  <a:srgbClr val="2563EB"/>
                </a:solidFill>
              </a:rPr>
              <a:t>SECURITIZADORAS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69AF5-F371-4A50-91A1-7F4EB34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0B0D12"/>
                </a:solidFill>
              </a:defRPr>
            </a:pPr>
            <a:r>
              <a:rPr sz="1950" b="1" i="0">
                <a:solidFill>
                  <a:srgbClr val="0B0D12"/>
                </a:solidFill>
              </a:rPr>
              <a:t>Pequenas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06259-F2E4-41F2-95A5-F4A32365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97180"/>
                </a:solidFill>
              </a:defRPr>
            </a:pPr>
            <a:r>
              <a:rPr sz="1275" b="0" i="0">
                <a:solidFill>
                  <a:srgbClr val="697180"/>
                </a:solidFill>
              </a:rPr>
              <a:t>Substituição de sistemas fragmentados e planilhas, com controle de ponta a ponta.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15340-A100-4A4D-AB92-69F371BF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9C1EC-4AB4-484A-894B-F522E264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0B0D12"/>
                </a:solidFill>
              </a:defRPr>
            </a:pPr>
            <a:r>
              <a:rPr sz="1950" b="1" i="0">
                <a:solidFill>
                  <a:srgbClr val="0B0D12"/>
                </a:solidFill>
              </a:rPr>
              <a:t>Médias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9611F-DBBB-4D1A-9B78-AA7B3227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97180"/>
                </a:solidFill>
              </a:defRPr>
            </a:pPr>
            <a:r>
              <a:rPr sz="1275" b="0" i="0">
                <a:solidFill>
                  <a:srgbClr val="697180"/>
                </a:solidFill>
              </a:rPr>
              <a:t>Automação, integração, governança e capacidade para escalar volumes.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7971D-9DB1-48FD-864C-09C119C0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FC7CB-D89F-4D6F-A676-7E84B1E8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2563EB"/>
                </a:solidFill>
              </a:defRPr>
            </a:pPr>
            <a:r>
              <a:rPr sz="1050" b="1" i="0">
                <a:solidFill>
                  <a:srgbClr val="2563EB"/>
                </a:solidFill>
              </a:rPr>
              <a:t>OPERAÇÕES DE FIDC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49D5F-2C46-4EFE-9769-EE529642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0B0D12"/>
                </a:solidFill>
              </a:defRPr>
            </a:pPr>
            <a:r>
              <a:rPr sz="1950" b="1" i="0">
                <a:solidFill>
                  <a:srgbClr val="0B0D12"/>
                </a:solidFill>
              </a:rPr>
              <a:t>Pequenos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92CC8-0CA1-4380-80A4-10B790CC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97180"/>
                </a:solidFill>
              </a:defRPr>
            </a:pPr>
            <a:r>
              <a:rPr sz="1275" b="0" i="0">
                <a:solidFill>
                  <a:srgbClr val="697180"/>
                </a:solidFill>
              </a:rPr>
              <a:t>Gestão operacional dos direitos creditórios e integração com os prestadores.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F4B10-C78B-48B7-9E37-9EE9A59E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E8515-2F1C-40C9-8F80-CA0C49D1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0B0D12"/>
                </a:solidFill>
              </a:defRPr>
            </a:pPr>
            <a:r>
              <a:rPr sz="1950" b="1" i="0">
                <a:solidFill>
                  <a:srgbClr val="0B0D12"/>
                </a:solidFill>
              </a:rPr>
              <a:t>Médios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BB86C-54FE-44E2-B487-6FF2D6CE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97180"/>
                </a:solidFill>
              </a:defRPr>
            </a:pPr>
            <a:r>
              <a:rPr sz="1275" b="0" i="0">
                <a:solidFill>
                  <a:srgbClr val="697180"/>
                </a:solidFill>
              </a:rPr>
              <a:t>Elegibilidade, concentração, conciliação e rastreabilidade por fundo ou classe.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FB26D1-5E02-4807-87E2-9468D571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570219-B5E7-444E-980C-A67779F9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8A919D"/>
                </a:solidFill>
              </a:defRPr>
            </a:pPr>
            <a:r>
              <a:rPr sz="750" b="0" i="0">
                <a:solidFill>
                  <a:srgbClr val="8A919D"/>
                </a:solidFill>
              </a:rPr>
              <a:t>Visão de produto para discussão com parceiro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F4FC8-E80A-4866-923C-13AD51A2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8A919D"/>
                </a:solidFill>
              </a:defRPr>
            </a:pPr>
            <a:r>
              <a:rPr sz="750" b="1" i="0">
                <a:solidFill>
                  <a:srgbClr val="8A919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4017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CB7D21-F21F-4681-832B-2D3D3352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PERÍMETRO DE ATUAÇÃO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2987E-235C-4BC2-9C8C-7984CCAB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0B0D12"/>
                </a:solidFill>
              </a:defRPr>
            </a:pPr>
            <a:r>
              <a:rPr sz="2850" b="1" i="0">
                <a:solidFill>
                  <a:srgbClr val="0B0D12"/>
                </a:solidFill>
              </a:rPr>
              <a:t>Responsabilidades bem delimitadas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9D3E7-4406-43AB-85D6-C978FDDE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97180"/>
                </a:solidFill>
              </a:defRPr>
            </a:pPr>
            <a:r>
              <a:rPr sz="1350" b="0" i="0">
                <a:solidFill>
                  <a:srgbClr val="697180"/>
                </a:solidFill>
              </a:rPr>
              <a:t>O STRATO organiza a operação contratada e integra o ecossistema sem absorver funções regulatórias de terceiros.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00DC4-729A-4B17-90B7-4CD7E011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1054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5304E-6F66-4F02-BE0A-1FD5A39A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0A5FA"/>
                </a:solidFill>
              </a:defRPr>
            </a:pPr>
            <a:r>
              <a:rPr sz="825" b="1" i="0">
                <a:solidFill>
                  <a:srgbClr val="60A5FA"/>
                </a:solidFill>
              </a:rPr>
              <a:t>RESPONSABILIDADE STRATO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C3316-2A52-45A6-A476-4732B0BC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Operação diária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34ABF-85ED-434B-8F8D-2FC4B1CB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0A5FA"/>
                </a:solidFill>
              </a:defRPr>
            </a:pPr>
            <a:r>
              <a:rPr sz="900" b="1" i="0">
                <a:solidFill>
                  <a:srgbClr val="60A5F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3A706-E0DD-476E-8647-540C32E2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52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D7DCE4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D7DCE4"/>
                </a:solidFill>
              </a:defRPr>
            </a:pPr>
            <a:r>
              <a:rPr sz="1275" b="0" i="0">
                <a:solidFill>
                  <a:srgbClr val="D7DCE4"/>
                </a:solidFill>
              </a:rPr>
              <a:t>Aquisição e formalização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C971D-9E2F-4C26-BA87-F8454710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0A5FA"/>
                </a:solidFill>
              </a:defRPr>
            </a:pPr>
            <a:r>
              <a:rPr sz="900" b="1" i="0">
                <a:solidFill>
                  <a:srgbClr val="60A5F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FDD37-3984-466C-9A1A-0D146C05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D7DCE4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D7DCE4"/>
                </a:solidFill>
              </a:defRPr>
            </a:pPr>
            <a:r>
              <a:rPr sz="1275" b="0" i="0">
                <a:solidFill>
                  <a:srgbClr val="D7DCE4"/>
                </a:solidFill>
              </a:rPr>
              <a:t>Carteira, liquidação e cobrança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D4A5E-80D8-4F2E-9946-A7058125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0A5FA"/>
                </a:solidFill>
              </a:defRPr>
            </a:pPr>
            <a:r>
              <a:rPr sz="900" b="1" i="0">
                <a:solidFill>
                  <a:srgbClr val="60A5FA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0C53E-FB38-4A49-AAF4-13190C89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D7DCE4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D7DCE4"/>
                </a:solidFill>
              </a:defRPr>
            </a:pPr>
            <a:r>
              <a:rPr sz="1275" b="0" i="0">
                <a:solidFill>
                  <a:srgbClr val="D7DCE4"/>
                </a:solidFill>
              </a:rPr>
              <a:t>Recompra, fechamento e controle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D4DE7-F3DB-4714-98F6-E8308B67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0A5FA"/>
                </a:solidFill>
              </a:defRPr>
            </a:pPr>
            <a:r>
              <a:rPr sz="900" b="1" i="0">
                <a:solidFill>
                  <a:srgbClr val="60A5FA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95A76-37C9-4867-A58B-C9D4644E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815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D7DCE4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D7DCE4"/>
                </a:solidFill>
              </a:defRPr>
            </a:pPr>
            <a:r>
              <a:rPr sz="1275" b="0" i="0">
                <a:solidFill>
                  <a:srgbClr val="D7DCE4"/>
                </a:solidFill>
              </a:rPr>
              <a:t>Evidências, permissões e auditoria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8C1B4-3624-4792-A73A-A1F389DA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RESPONSABILIDADE DOS PRESTADORES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8D6F1-25E0-4259-B4C9-84C68B30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0B0D12"/>
                </a:solidFill>
              </a:defRPr>
            </a:pPr>
            <a:r>
              <a:rPr sz="2025" b="1" i="0">
                <a:solidFill>
                  <a:srgbClr val="0B0D12"/>
                </a:solidFill>
              </a:rPr>
              <a:t>Funções próprias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F111F-C72B-4662-B256-E01DE8B5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926A9-0855-4C8F-8E9C-1245D96D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52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232832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232832"/>
                </a:solidFill>
              </a:defRPr>
            </a:pPr>
            <a:r>
              <a:rPr sz="1275" b="0" i="0">
                <a:solidFill>
                  <a:srgbClr val="232832"/>
                </a:solidFill>
              </a:rPr>
              <a:t>Administração fiduciária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CEE83-E307-4235-8665-F773F244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74BFF-FB10-4AD2-8BA3-23BF6E90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290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232832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232832"/>
                </a:solidFill>
              </a:defRPr>
            </a:pPr>
            <a:r>
              <a:rPr sz="1275" b="0" i="0">
                <a:solidFill>
                  <a:srgbClr val="232832"/>
                </a:solidFill>
              </a:rPr>
              <a:t>Custódia e escrituração de cotas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81454-8918-4341-AE53-8C27B24B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434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764F60-A4B6-4F1E-B2AE-5D75E1A3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232832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232832"/>
                </a:solidFill>
              </a:defRPr>
            </a:pPr>
            <a:r>
              <a:rPr sz="1275" b="0" i="0">
                <a:solidFill>
                  <a:srgbClr val="232832"/>
                </a:solidFill>
              </a:rPr>
              <a:t>Contabilidade oficial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3572B-C5AD-4508-81F1-51B62557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9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4660BC-00FD-4298-B6B5-D50B6E94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815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232832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232832"/>
                </a:solidFill>
              </a:defRPr>
            </a:pPr>
            <a:r>
              <a:rPr sz="1275" b="0" i="0">
                <a:solidFill>
                  <a:srgbClr val="232832"/>
                </a:solidFill>
              </a:rPr>
              <a:t>Distribuição de valores mobiliários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F7D3D-8F0D-4540-AB64-42C88C55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72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1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050" b="0" i="1">
                <a:solidFill>
                  <a:srgbClr val="697180"/>
                </a:solidFill>
              </a:defRPr>
            </a:pPr>
            <a:r>
              <a:rPr sz="1050" b="0" i="1">
                <a:solidFill>
                  <a:srgbClr val="697180"/>
                </a:solidFill>
              </a:rPr>
              <a:t>O desenho definitivo depende dos contratos e das responsabilidades de cada estrutura.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B3AF5C-7A20-4ABF-A152-2B52BBB6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73F960-BBD3-4DAF-B86D-60D1436E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8A919D"/>
                </a:solidFill>
              </a:defRPr>
            </a:pPr>
            <a:r>
              <a:rPr sz="750" b="0" i="0">
                <a:solidFill>
                  <a:srgbClr val="8A919D"/>
                </a:solidFill>
              </a:rPr>
              <a:t>Visão de produto para discussão com parceiro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3E4D4-A2B5-4D60-8BA3-B16AB3F0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8A919D"/>
                </a:solidFill>
              </a:defRPr>
            </a:pPr>
            <a:r>
              <a:rPr sz="750" b="1" i="0">
                <a:solidFill>
                  <a:srgbClr val="8A919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787554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E38B97-4D16-44BC-B47F-078D7FCC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0A5FA"/>
                </a:solidFill>
              </a:defRPr>
            </a:pPr>
            <a:r>
              <a:rPr sz="825" b="1" i="0">
                <a:solidFill>
                  <a:srgbClr val="60A5FA"/>
                </a:solidFill>
              </a:rPr>
              <a:t>PLATAFORMA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A1715-F89E-49FC-8E80-DA2AFCC2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Ciclo completo em uma mesma trilha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EA6BF-B354-49EF-961C-D78ADFBB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B6BDC8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B6BDC8"/>
                </a:solidFill>
              </a:defRPr>
            </a:pPr>
            <a:r>
              <a:rPr sz="1350" b="0" i="0">
                <a:solidFill>
                  <a:srgbClr val="B6BDC8"/>
                </a:solidFill>
              </a:rPr>
              <a:t>Cada etapa compartilha dados, regras, permissões e evidências com as demais.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2FE4B-5A4E-4508-9487-44D2C2DC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95F28-4DEF-46BA-8AAB-3B14F4E8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76575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0260C-6DD3-4F8C-8808-B41B2D07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EE611-CBD8-4EF8-88BC-A7F063ED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0025"/>
            <a:ext cx="1028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Cadastro</a:t>
            </a:r>
          </a:p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e crédito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FE8B3-6F9F-46C0-A5C6-28DE8BE1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76575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71B22"/>
          </a:solidFill>
          <a:ln xmlns:a="http://schemas.openxmlformats.org/drawingml/2006/main" w="9525">
            <a:solidFill>
              <a:srgbClr val="353D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CE874-269E-422D-8BF5-8B9ABF85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861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D3EB1-DA68-42A0-8D3A-90AB8278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10025"/>
            <a:ext cx="1028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Simulação e</a:t>
            </a:r>
          </a:p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precificação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04137-4830-44DD-A8DB-F280B3D6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76575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71B22"/>
          </a:solidFill>
          <a:ln xmlns:a="http://schemas.openxmlformats.org/drawingml/2006/main" w="9525">
            <a:solidFill>
              <a:srgbClr val="353D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B8DE3-F515-45C8-8E48-A7E7B285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997A3-AD00-4C90-AE3F-068F2938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0025"/>
            <a:ext cx="1028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Aquisição e</a:t>
            </a:r>
          </a:p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formalização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890AC-4E9D-4CF1-B584-5E90B2CB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76575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71B22"/>
          </a:solidFill>
          <a:ln xmlns:a="http://schemas.openxmlformats.org/drawingml/2006/main" w="9525">
            <a:solidFill>
              <a:srgbClr val="353D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BFBAF-D674-46AB-8AA0-C88DCF05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861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381FE-48BE-4E02-A4F0-01D6F867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10025"/>
            <a:ext cx="1028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Títulos e</a:t>
            </a:r>
          </a:p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carteira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5844E-E37C-47C5-931C-0E41BCBF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76575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71B22"/>
          </a:solidFill>
          <a:ln xmlns:a="http://schemas.openxmlformats.org/drawingml/2006/main" w="9525">
            <a:solidFill>
              <a:srgbClr val="353D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1640A-B5CA-4D8F-BD74-DDB764D2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861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C3BD2-3974-4AB2-81C7-F86040DE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10025"/>
            <a:ext cx="1028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Tesouraria e</a:t>
            </a:r>
          </a:p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conciliação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D73E8-510F-4A47-A585-CF6C99B7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76575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71B22"/>
          </a:solidFill>
          <a:ln xmlns:a="http://schemas.openxmlformats.org/drawingml/2006/main" w="9525">
            <a:solidFill>
              <a:srgbClr val="353D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11A61-27DE-4E7C-86E8-3FCB0607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861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2F73B-D054-4BC2-BB29-BC14035E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0025"/>
            <a:ext cx="1028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Cobrança e</a:t>
            </a:r>
          </a:p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recuperação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20531D-713A-4E4F-973A-4E19347B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76575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DFEDA5-8B46-4A78-BA74-F67BCE2F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861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30F0B2-86A6-45F8-806B-649FF7BE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10025"/>
            <a:ext cx="1028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Recompra e</a:t>
            </a:r>
          </a:p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fechamento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131176-5B93-464B-BAB7-91D80CAC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0A5FA"/>
                </a:solidFill>
              </a:defRPr>
            </a:pPr>
            <a:r>
              <a:rPr sz="750" b="1" i="0">
                <a:solidFill>
                  <a:srgbClr val="60A5FA"/>
                </a:solidFill>
              </a:rPr>
              <a:t>CAPACIDADES TRANSVERSAIS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0219C0-0F95-492B-8A2C-768E1E3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BAC1CC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BAC1CC"/>
                </a:solidFill>
              </a:defRPr>
            </a:pPr>
            <a:r>
              <a:rPr sz="1350" b="0" i="0">
                <a:solidFill>
                  <a:srgbClr val="BAC1CC"/>
                </a:solidFill>
              </a:rPr>
              <a:t>Exceções e automação    Segurança e auditoria    Administração e parâmetros    Conectividade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6A298-FB63-435F-8FBA-2F155460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34EFDD-7722-43A4-8032-31AF38D2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737C8B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737C8B"/>
                </a:solidFill>
              </a:defRPr>
            </a:pPr>
            <a:r>
              <a:rPr sz="750" b="0" i="0">
                <a:solidFill>
                  <a:srgbClr val="737C8B"/>
                </a:solidFill>
              </a:rPr>
              <a:t>Visão de produto para discussão com parceiro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84EA2D-0E2B-4450-8714-5164DAA4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737C8B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737C8B"/>
                </a:solidFill>
              </a:defRPr>
            </a:pPr>
            <a:r>
              <a:rPr sz="750" b="1" i="0">
                <a:solidFill>
                  <a:srgbClr val="737C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03640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482BF-4820-4E40-86F9-B2809F53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ARQUITETURA DE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3BEA8-36BA-429D-8CDC-C464B094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0B0D12"/>
                </a:solidFill>
              </a:defRPr>
            </a:pPr>
            <a:r>
              <a:rPr sz="2850" b="1" i="0">
                <a:solidFill>
                  <a:srgbClr val="0B0D12"/>
                </a:solidFill>
              </a:rPr>
              <a:t>Um núcleo comum com componentes especializados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908B5-C719-411F-99FE-62167517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97180"/>
                </a:solidFill>
              </a:defRPr>
            </a:pPr>
            <a:r>
              <a:rPr sz="1350" b="0" i="0">
                <a:solidFill>
                  <a:srgbClr val="697180"/>
                </a:solidFill>
              </a:rPr>
              <a:t>A base compartilhada preserva escala. Os componentes setoriais tratam diferenças que realmente importam.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E86D2-345B-43B0-9200-87BB79AB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STRATO SECURITIZADORAS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6CB61-EF69-4518-9958-D43AD519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0D12"/>
                </a:solidFill>
              </a:defRPr>
            </a:pPr>
            <a:r>
              <a:rPr sz="1500" b="1" i="0">
                <a:solidFill>
                  <a:srgbClr val="0B0D12"/>
                </a:solidFill>
              </a:rPr>
              <a:t>Emissões, patrimônio separado, lastro, gatilhos e interfaces com agentes fiduciários.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49B76-DF8E-4955-8063-104E4A88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574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7391C-FDE5-49F3-8A60-28A38050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9718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5B5C8-1D86-40E3-A9DD-55693B05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60A5FA"/>
                </a:solidFill>
              </a:defRPr>
            </a:pPr>
            <a:r>
              <a:rPr sz="900" b="1" i="0">
                <a:solidFill>
                  <a:srgbClr val="60A5FA"/>
                </a:solidFill>
              </a:rPr>
              <a:t>STRATO 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FCF91-B83D-466D-96EA-F22A04FD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4325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3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Operação</a:t>
            </a:r>
          </a:p>
          <a:p xmlns:a="http://schemas.openxmlformats.org/drawingml/2006/main">
            <a:pPr algn="ctr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compartilhada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AB775-7D16-47EC-BCB0-1EA9D801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767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AEB6C2"/>
                </a:solidFill>
              </a:defRPr>
            </a:pPr>
            <a:r>
              <a:rPr sz="1050" b="0" i="0">
                <a:solidFill>
                  <a:srgbClr val="AEB6C2"/>
                </a:solidFill>
              </a:rPr>
              <a:t>Cadastros, risco, carteira, tesouraria, cobrança, auditoria e integrações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6619D-0953-42EE-95B6-D9A5A37D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574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375EA-466B-42A3-A36D-17A1D06A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14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STRATO FIDC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C76F1-BA5C-40E2-ADCB-94F9BF3F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908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0D12"/>
                </a:solidFill>
              </a:defRPr>
            </a:pPr>
            <a:r>
              <a:rPr sz="1500" b="1" i="0">
                <a:solidFill>
                  <a:srgbClr val="0B0D12"/>
                </a:solidFill>
              </a:rPr>
              <a:t>Fundos e classes, elegibilidade, concentração, enquadramento e conciliação com prestadores.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D2F93-6461-4CA1-B5B1-B29CF0C1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697180"/>
                </a:solidFill>
              </a:defRPr>
            </a:pPr>
            <a:r>
              <a:rPr sz="1275" b="0" i="0">
                <a:solidFill>
                  <a:srgbClr val="697180"/>
                </a:solidFill>
              </a:rPr>
              <a:t>O desenho evita bifurcar o produto em soluções independentes.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27673-3AAE-42B5-924D-BA43D7F5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3DE39-AB5C-4E6F-9D75-D7BA3B2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8A919D"/>
                </a:solidFill>
              </a:defRPr>
            </a:pPr>
            <a:r>
              <a:rPr sz="750" b="0" i="0">
                <a:solidFill>
                  <a:srgbClr val="8A919D"/>
                </a:solidFill>
              </a:rPr>
              <a:t>Visão de produto para discussão com parceiro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8F619-F24C-4378-BE25-67A553E7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8A919D"/>
                </a:solidFill>
              </a:defRPr>
            </a:pPr>
            <a:r>
              <a:rPr sz="750" b="1" i="0">
                <a:solidFill>
                  <a:srgbClr val="8A919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858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39C5A-E460-485C-8A74-2DDA3CA3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EXPERIÊNCIA DO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BF280-AF96-469A-8FC7-B80A1E7B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0B0D12"/>
                </a:solidFill>
              </a:defRPr>
            </a:pPr>
            <a:r>
              <a:rPr sz="2850" b="1" i="0">
                <a:solidFill>
                  <a:srgbClr val="0B0D12"/>
                </a:solidFill>
              </a:rPr>
              <a:t>A operação começa pela decisão que exige atenção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94435-AC09-45D9-824B-BA665211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97180"/>
                </a:solidFill>
              </a:defRPr>
            </a:pPr>
            <a:r>
              <a:rPr sz="1350" b="0" i="0">
                <a:solidFill>
                  <a:srgbClr val="697180"/>
                </a:solidFill>
              </a:rPr>
              <a:t>A visão executiva reúne posição, capacidade, pendências e contexto sem esconder a profundidade operacional.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C294F-8881-4269-BAB8-E1243C0A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5247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1B4D9-D356-4288-B253-E033C1A281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25174e5ce4bff"/>
          <a:srcRect xmlns:a="http://schemas.openxmlformats.org/drawingml/2006/main" l="0" t="28482" r="0" b="284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038350"/>
            <a:ext cx="7296150" cy="377190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EC3F9-9677-4CEE-8731-547BD4D0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BB867-02AE-468C-A85D-491821FD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907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0B0D12"/>
                </a:solidFill>
              </a:defRPr>
            </a:pPr>
            <a:r>
              <a:rPr sz="1575" b="1" i="0">
                <a:solidFill>
                  <a:srgbClr val="0B0D12"/>
                </a:solidFill>
              </a:rPr>
              <a:t>Posição do 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05E6C-46BC-4A49-98E5-3DBCC5D4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97180"/>
                </a:solidFill>
              </a:defRPr>
            </a:pPr>
            <a:r>
              <a:rPr sz="1125" b="0" i="0">
                <a:solidFill>
                  <a:srgbClr val="697180"/>
                </a:solidFill>
              </a:rPr>
              <a:t>Indicadores e data-base compartilham o mesmo recorte.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F1E3D-B5F9-4E59-9560-C7F0CE7A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274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9A085-341B-4E30-96EC-4A6F5CFD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1DB1B-C477-4E7A-BF5A-21BCE4C1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527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0B0D12"/>
                </a:solidFill>
              </a:defRPr>
            </a:pPr>
            <a:r>
              <a:rPr sz="1575" b="1" i="0">
                <a:solidFill>
                  <a:srgbClr val="0B0D12"/>
                </a:solidFill>
              </a:rPr>
              <a:t>Gestão por exceção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0EA2D-244E-474D-9CDC-433BEA92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97180"/>
                </a:solidFill>
              </a:defRPr>
            </a:pPr>
            <a:r>
              <a:rPr sz="1125" b="0" i="0">
                <a:solidFill>
                  <a:srgbClr val="697180"/>
                </a:solidFill>
              </a:rPr>
              <a:t>A fila destaca impacto, urgência e próxima decisão.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0BF30-25AD-4FCC-AE2D-7ADFF7A7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52900"/>
            <a:ext cx="274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82662-5DD7-4282-A443-3DC67714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958DA-2208-4A60-BE7C-57D98E7D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148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0B0D12"/>
                </a:solidFill>
              </a:defRPr>
            </a:pPr>
            <a:r>
              <a:rPr sz="1575" b="1" i="0">
                <a:solidFill>
                  <a:srgbClr val="0B0D12"/>
                </a:solidFill>
              </a:rPr>
              <a:t>Contexto conectado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381D6-6382-4EAB-B72E-D54F32A9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863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97180"/>
                </a:solidFill>
              </a:defRPr>
            </a:pPr>
            <a:r>
              <a:rPr sz="1125" b="0" i="0">
                <a:solidFill>
                  <a:srgbClr val="697180"/>
                </a:solidFill>
              </a:rPr>
              <a:t>Carteira, caixa, risco e operação aparecem na mesma leitura.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4C9CF-8DFD-4E4C-84EF-EF9442E1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3B640-5F19-43E1-A843-9CB00492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8A919D"/>
                </a:solidFill>
              </a:defRPr>
            </a:pPr>
            <a:r>
              <a:rPr sz="750" b="0" i="0">
                <a:solidFill>
                  <a:srgbClr val="8A919D"/>
                </a:solidFill>
              </a:rPr>
              <a:t>Visão de produto para discussão com parceiro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120B4C-E45E-45F1-941D-9D6B7F2F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8A919D"/>
                </a:solidFill>
              </a:defRPr>
            </a:pPr>
            <a:r>
              <a:rPr sz="750" b="1" i="0">
                <a:solidFill>
                  <a:srgbClr val="8A919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93820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5BDA7-4F1E-4174-807C-D162BE9B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0A5FA"/>
                </a:solidFill>
              </a:defRPr>
            </a:pPr>
            <a:r>
              <a:rPr sz="825" b="1" i="0">
                <a:solidFill>
                  <a:srgbClr val="60A5FA"/>
                </a:solidFill>
              </a:rPr>
              <a:t>INTELIGÊNCIA E GOVERNANÇA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32471-4213-44BC-AF16-2A0C84F0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IA amplia a análise sem controlar o financeiro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CE295-B0D0-4260-AFA0-1AAE1F13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B6BDC8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B6BDC8"/>
                </a:solidFill>
              </a:defRPr>
            </a:pPr>
            <a:r>
              <a:rPr sz="1350" b="0" i="0">
                <a:solidFill>
                  <a:srgbClr val="B6BDC8"/>
                </a:solidFill>
              </a:rPr>
              <a:t>O ERP opera integralmente com a IA desligada. Quando conectada, ela interpreta sinais e apoia o tratamento de exceções.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0B67F-545B-4CBD-8796-C9767FD5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0A5FA"/>
                </a:solidFill>
              </a:defRPr>
            </a:pPr>
            <a:r>
              <a:rPr sz="825" b="1" i="0">
                <a:solidFill>
                  <a:srgbClr val="60A5FA"/>
                </a:solidFill>
              </a:rPr>
              <a:t>BASE DETERMINÍSTICA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45362-E3FF-4098-94E8-BD7CE748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Cálculos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916BA-007B-4BF2-AC4C-63F27A7A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812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AEB6C2"/>
                </a:solidFill>
              </a:defRPr>
            </a:pPr>
            <a:r>
              <a:rPr sz="1125" b="0" i="0">
                <a:solidFill>
                  <a:srgbClr val="AEB6C2"/>
                </a:solidFill>
              </a:rPr>
              <a:t>Regras testáveis e memória de cálculo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D3FAE-D007-485A-BF61-B1D7CE32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4294F-DDF3-494C-A52C-1E7A4BB3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Decisões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9A7F9-371B-432E-ADAC-D387A1E5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67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AEB6C2"/>
                </a:solidFill>
              </a:defRPr>
            </a:pPr>
            <a:r>
              <a:rPr sz="1125" b="0" i="0">
                <a:solidFill>
                  <a:srgbClr val="AEB6C2"/>
                </a:solidFill>
              </a:rPr>
              <a:t>Políticas versionadas e alçadas explícitas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91FDE-22CB-48D4-849C-1CA58955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0DA69-A429-466C-9B59-23AE8B9B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Movimentos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C34DE-3189-40A4-BF2B-3A856AFB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52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AEB6C2"/>
                </a:solidFill>
              </a:defRPr>
            </a:pPr>
            <a:r>
              <a:rPr sz="1125" b="0" i="0">
                <a:solidFill>
                  <a:srgbClr val="AEB6C2"/>
                </a:solidFill>
              </a:rPr>
              <a:t>Idempotência e reconciliação financeira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DBB0C-04B5-4698-8F5D-B8A579DA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ADE42-AA2F-493C-A660-2D4B4144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Evidências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5483B-CD8E-4A5C-87D2-FE905C4E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38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AEB6C2"/>
                </a:solidFill>
              </a:defRPr>
            </a:pPr>
            <a:r>
              <a:rPr sz="1125" b="0" i="0">
                <a:solidFill>
                  <a:srgbClr val="AEB6C2"/>
                </a:solidFill>
              </a:rPr>
              <a:t>Histórico e trilha de auditoria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ACFEA-4BF6-4D74-A416-DD6267E2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62150"/>
            <a:ext cx="53340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1151C"/>
          </a:solidFill>
          <a:ln xmlns:a="http://schemas.openxmlformats.org/drawingml/2006/main" w="9525">
            <a:solidFill>
              <a:srgbClr val="252C37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2931D-5790-4699-99F5-7CBF37197E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fc88159754eb0"/>
          <a:srcRect xmlns:a="http://schemas.openxmlformats.org/drawingml/2006/main" l="6563" t="0" r="65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2076450"/>
            <a:ext cx="51054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3B53B-E958-44F2-A177-AFB96C86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0150"/>
            <a:ext cx="5105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0E090-C829-45AD-84E1-173F2D15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625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0A5FA"/>
                </a:solidFill>
              </a:defRPr>
            </a:pPr>
            <a:r>
              <a:rPr sz="750" b="1" i="0">
                <a:solidFill>
                  <a:srgbClr val="60A5FA"/>
                </a:solidFill>
              </a:rPr>
              <a:t>RECOMENDAÇÃO ASSISTIDA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A4EBC-1BAA-435C-A44F-862C07DF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911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Ações sensíveis permanecem sob regras e decisão humana.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678BB-5972-42B0-A61E-08BA3A1F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BD181-0975-43D4-8314-09945F51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737C8B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737C8B"/>
                </a:solidFill>
              </a:defRPr>
            </a:pPr>
            <a:r>
              <a:rPr sz="750" b="0" i="0">
                <a:solidFill>
                  <a:srgbClr val="737C8B"/>
                </a:solidFill>
              </a:rPr>
              <a:t>Visão de produto para discussão com parceiro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19A1B-30AA-42EE-89B6-D5DB14BB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737C8B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737C8B"/>
                </a:solidFill>
              </a:defRPr>
            </a:pPr>
            <a:r>
              <a:rPr sz="750" b="1" i="0">
                <a:solidFill>
                  <a:srgbClr val="737C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96902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16F836-B777-4D35-BDF1-2E801964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VISÃO TECNOLÓGICA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63CCD-B21E-46FD-9FF3-29EB1902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0B0D12"/>
                </a:solidFill>
              </a:defRPr>
            </a:pPr>
            <a:r>
              <a:rPr sz="2850" b="1" i="0">
                <a:solidFill>
                  <a:srgbClr val="0B0D12"/>
                </a:solidFill>
              </a:rPr>
              <a:t>Monólito modular orientado a eventos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4F9E2-D268-4911-A659-0EF0D7F1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97180"/>
                </a:solidFill>
              </a:defRPr>
            </a:pPr>
            <a:r>
              <a:rPr sz="1350" b="0" i="0">
                <a:solidFill>
                  <a:srgbClr val="697180"/>
                </a:solidFill>
              </a:rPr>
              <a:t>A arquitetura favorece integridade transacional no início e permite separar serviços quando escala ou risco justificarem.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31BDC-7CEE-4B3E-8380-4A17C717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57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0D12"/>
          </a:solidFill>
          <a:ln xmlns:a="http://schemas.openxmlformats.org/drawingml/2006/main" w="9525">
            <a:solidFill>
              <a:srgbClr val="0B0D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074E4-35AA-4CB0-BB83-86396A32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0A5FA"/>
                </a:solidFill>
              </a:defRPr>
            </a:pPr>
            <a:r>
              <a:rPr sz="750" b="1" i="0">
                <a:solidFill>
                  <a:srgbClr val="60A5FA"/>
                </a:solidFill>
              </a:rPr>
              <a:t>EXPERIÊNCIA WEB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D96CE-ECE8-4A42-AAD1-381E9B2F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2650"/>
            <a:ext cx="798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Operação diária, filas, dashboards e administração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D51EA-D38C-4F12-81E9-5CFD43FD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1155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89C63-CF81-47C6-8C67-71332722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2563EB"/>
                </a:solidFill>
              </a:defRPr>
            </a:pPr>
            <a:r>
              <a:rPr sz="750" b="1" i="0">
                <a:solidFill>
                  <a:srgbClr val="2563EB"/>
                </a:solidFill>
              </a:rPr>
              <a:t>API E IDENTIDADE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4A761-EBB5-40DF-A0FE-75815887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3845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B0D12"/>
                </a:solidFill>
              </a:defRPr>
            </a:pPr>
            <a:r>
              <a:rPr sz="1125" b="1" i="0">
                <a:solidFill>
                  <a:srgbClr val="0B0D12"/>
                </a:solidFill>
              </a:rPr>
              <a:t>Autenticação, autorização, empresas e integrações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7FE27-4147-4D1E-8777-04A0C2FB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96583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0F4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462ED-E93A-41E5-A52C-6D7AE06F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2563EB"/>
                </a:solidFill>
              </a:defRPr>
            </a:pPr>
            <a:r>
              <a:rPr sz="750" b="1" i="0">
                <a:solidFill>
                  <a:srgbClr val="2563EB"/>
                </a:solidFill>
              </a:rPr>
              <a:t>DOMÍNIOS TRANSACIONAIS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5CEC7-64FA-4DCE-82AD-9B54161C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706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B0D12"/>
                </a:solidFill>
              </a:defRPr>
            </a:pPr>
            <a:r>
              <a:rPr sz="1125" b="1" i="0">
                <a:solidFill>
                  <a:srgbClr val="0B0D12"/>
                </a:solidFill>
              </a:rPr>
              <a:t>Crédito, cessão, carteira, tesouraria, cobrança e fechamento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247C8-3BC4-467A-907E-598FB3BE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9201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E08D6-7B2E-467C-8675-A73F8AB4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481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2563EB"/>
                </a:solidFill>
              </a:defRPr>
            </a:pPr>
            <a:r>
              <a:rPr sz="750" b="1" i="0">
                <a:solidFill>
                  <a:srgbClr val="2563EB"/>
                </a:solidFill>
              </a:rPr>
              <a:t>MOTORES E WORKFLOWS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EDCCA-BCE1-45DE-B7C6-84F5B25D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10050"/>
            <a:ext cx="661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B0D12"/>
                </a:solidFill>
              </a:defRPr>
            </a:pPr>
            <a:r>
              <a:rPr sz="1125" b="1" i="0">
                <a:solidFill>
                  <a:srgbClr val="0B0D12"/>
                </a:solidFill>
              </a:rPr>
              <a:t>Cálculos, regras versionadas, eventos e exceções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0556A5-A19C-41E2-8CF2-EB513FC4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87439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3EEA0-1E1D-4CFF-BEF1-7D771431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2563EB"/>
                </a:solidFill>
              </a:defRPr>
            </a:pPr>
            <a:r>
              <a:rPr sz="750" b="1" i="0">
                <a:solidFill>
                  <a:srgbClr val="2563EB"/>
                </a:solidFill>
              </a:rPr>
              <a:t>DADOS E EVIDÊNCIAS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FB43B-D9CA-468B-ADC5-B6150C02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95850"/>
            <a:ext cx="615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B0D12"/>
                </a:solidFill>
              </a:defRPr>
            </a:pPr>
            <a:r>
              <a:rPr sz="1125" b="1" i="0">
                <a:solidFill>
                  <a:srgbClr val="0B0D12"/>
                </a:solidFill>
              </a:rPr>
              <a:t>PostgreSQL, documentos, logs e auditoria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99A7A-D649-4278-9120-B9860233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2563EB"/>
                </a:solidFill>
              </a:defRPr>
            </a:pPr>
            <a:r>
              <a:rPr sz="750" b="1" i="0">
                <a:solidFill>
                  <a:srgbClr val="2563EB"/>
                </a:solidFill>
              </a:rPr>
              <a:t>TECNOLOGIA DE REFERÊNCIA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84337-FAA9-411D-8E22-6665F6FF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232832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232832"/>
                </a:solidFill>
              </a:defRPr>
            </a:pPr>
            <a:r>
              <a:rPr sz="1125" b="0" i="0">
                <a:solidFill>
                  <a:srgbClr val="232832"/>
                </a:solidFill>
              </a:rPr>
              <a:t>React e TypeScript   NestJS   PostgreSQL   Redis   S3 compatível   Observabilidade distribuída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46A5B1-5AFE-461C-BCB8-C5C945B8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4DDBF-80EB-403B-9262-5D7555EB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8A919D"/>
                </a:solidFill>
              </a:defRPr>
            </a:pPr>
            <a:r>
              <a:rPr sz="750" b="0" i="0">
                <a:solidFill>
                  <a:srgbClr val="8A919D"/>
                </a:solidFill>
              </a:rPr>
              <a:t>Visão de produto para discussão com parceiro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99960-8A9A-4897-BA8D-5B48BEE8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8A919D"/>
                </a:solidFill>
              </a:defRPr>
            </a:pPr>
            <a:r>
              <a:rPr sz="750" b="1" i="0">
                <a:solidFill>
                  <a:srgbClr val="8A919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015545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4645E2-49B6-4669-A394-AE2CF8CA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0A5FA"/>
                </a:solidFill>
              </a:defRPr>
            </a:pPr>
            <a:r>
              <a:rPr sz="825" b="1" i="0">
                <a:solidFill>
                  <a:srgbClr val="60A5FA"/>
                </a:solidFill>
              </a:rPr>
              <a:t>CONECTIVIDADE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CD9BC-05DE-4C01-AB47-F85DE84B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Integrações tratadas como parte da operação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396BE-ECB0-4A9D-91AE-78050C52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B6BDC8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B6BDC8"/>
                </a:solidFill>
              </a:defRPr>
            </a:pPr>
            <a:r>
              <a:rPr sz="1350" b="0" i="0">
                <a:solidFill>
                  <a:srgbClr val="B6BDC8"/>
                </a:solidFill>
              </a:rPr>
              <a:t>Remessa, consulta, retorno, confirmação, conciliação e evidência formam um fluxo observável.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996F7-6A11-4562-AC82-978AC532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26289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E16BC-A4BA-4439-9F1B-FBDA4BA3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7655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ctr">
              <a:defRPr sz="2175" b="1" i="0">
                <a:solidFill>
                  <a:srgbClr val="0B0D12"/>
                </a:solidFill>
              </a:defRPr>
            </a:pPr>
            <a:r>
              <a:rPr sz="2175" b="1" i="0">
                <a:solidFill>
                  <a:srgbClr val="0B0D12"/>
                </a:solidFill>
              </a:rPr>
              <a:t>STRATO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89262-3A4F-4FE4-96D5-D1FEBF30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337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97180"/>
                </a:solidFill>
              </a:defRPr>
            </a:pPr>
            <a:r>
              <a:rPr sz="1200" b="0" i="0">
                <a:solidFill>
                  <a:srgbClr val="697180"/>
                </a:solidFill>
              </a:rPr>
              <a:t>Sistema operacional</a:t>
            </a:r>
          </a:p>
          <a:p xmlns:a="http://schemas.openxmlformats.org/drawingml/2006/main">
            <a:pPr algn="ctr">
              <a:defRPr sz="1200" b="0" i="0">
                <a:solidFill>
                  <a:srgbClr val="697180"/>
                </a:solidFill>
              </a:defRPr>
            </a:pPr>
            <a:r>
              <a:rPr sz="1200" b="0" i="0">
                <a:solidFill>
                  <a:srgbClr val="697180"/>
                </a:solidFill>
              </a:rPr>
              <a:t>de referência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F825E-86B8-46A0-A480-68F654D6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Bancos e pagamentos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02BBC-6AB5-44E1-969F-72C22526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2FD28-FAE3-4D63-AB27-55956DFD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764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BB37C-62AC-49E7-98D7-B41BB356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Registradoras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98E1A-CC60-4822-AE91-9A3C08B6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7DDE8-65D3-4203-8E3A-A381729C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051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7819A-0F40-46AC-BE3D-8D1FCA46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Assinatura eletrônica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4B449-9939-4645-9824-7D8C9564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78F84-942F-4314-B2F7-A790DAAE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338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AC384-EDDA-414E-B2AE-EB666F5D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Bureaus e verificadores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516DDE-70A1-45AA-BE14-83EB26A4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764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CAA7C-FB2F-4668-B528-BEB5F5BE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DB1B6-9918-429A-A0A6-C2D2115C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623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Administrador e custodiante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CFE3E-DE3A-444A-A847-1929BBE9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051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B4809-6B34-416F-9A94-062B2F00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766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DC378-5026-4A8B-BDD7-BC0FB57A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910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Contabilidade e comunicação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D4A71-1031-43FC-A91C-A41CC970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338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787FE-9954-4178-8676-821928D9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965A41-3B89-4BE4-99CF-469D7F75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AEB6C2"/>
                </a:solidFill>
              </a:defRPr>
            </a:pPr>
            <a:r>
              <a:rPr sz="1275" b="0" i="0">
                <a:solidFill>
                  <a:srgbClr val="AEB6C2"/>
                </a:solidFill>
              </a:rPr>
              <a:t>Retentativas seguras, reconciliação e tratamento de exceções preservam continuidade operacional.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3D451-FA4B-4D54-8820-2A9A6662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FC78C8-F1A0-4A6C-A3F3-4AD838C5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737C8B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737C8B"/>
                </a:solidFill>
              </a:defRPr>
            </a:pPr>
            <a:r>
              <a:rPr sz="750" b="0" i="0">
                <a:solidFill>
                  <a:srgbClr val="737C8B"/>
                </a:solidFill>
              </a:rPr>
              <a:t>Visão de produto para discussão com parceiro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E55EC5-C85A-4869-9B05-802103D6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737C8B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737C8B"/>
                </a:solidFill>
              </a:defRPr>
            </a:pPr>
            <a:r>
              <a:rPr sz="750" b="1" i="0">
                <a:solidFill>
                  <a:srgbClr val="737C8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767529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1525F-2798-44DA-AAC7-B7856A38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DIFERENCIAÇÃO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ED587-836C-46CE-B13B-C17F0564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0B0D12"/>
                </a:solidFill>
              </a:defRPr>
            </a:pPr>
            <a:r>
              <a:rPr sz="2850" b="1" i="0">
                <a:solidFill>
                  <a:srgbClr val="0B0D12"/>
                </a:solidFill>
              </a:rPr>
              <a:t>O produto concentra execução e controle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87949-DE0E-4A40-8781-20D7286E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97180"/>
                </a:solidFill>
              </a:defRPr>
            </a:pPr>
            <a:r>
              <a:rPr sz="1350" b="0" i="0">
                <a:solidFill>
                  <a:srgbClr val="697180"/>
                </a:solidFill>
              </a:rPr>
              <a:t>A proposta combina profundidade operacional, arquitetura replicável e governança financeira.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EC87F-8189-4225-BA16-A183FE06DB1C}"/>
              </a:ext>
            </a:extLst>
          </p:cNvPr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952875"/>
                <a:gridCol w="4638675"/>
              </a:tblGrid>
              <a:tr h="527957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DIMENSÃO</a:t>
                      </a:r>
                    </a:p>
                  </a:txBody>
                  <a:tcPr marL="133350" marR="133350" marT="95250" marB="95250" anchor="ctr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ABORDAGEM FRAGMENTADA</a:t>
                      </a:r>
                    </a:p>
                  </a:txBody>
                  <a:tcPr marL="133350" marR="133350" marT="95250" marB="95250" anchor="ctr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STRATO</a:t>
                      </a:r>
                    </a:p>
                  </a:txBody>
                  <a:tcPr marL="133350" marR="133350" marT="95250" marB="95250" anchor="ctr">
                    <a:solidFill>
                      <a:srgbClr val="0B0D12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2"/>
                          </a:solidFill>
                        </a:rPr>
                        <a:t>Papel no cliente</a:t>
                      </a:r>
                    </a:p>
                  </a:txBody>
                  <a:tcPr marL="133350" marR="133350" marT="85725" marB="857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2"/>
                          </a:solidFill>
                        </a:rPr>
                        <a:t>Camada complementar</a:t>
                      </a:r>
                    </a:p>
                  </a:txBody>
                  <a:tcPr marL="133350" marR="133350" marT="85725" marB="85725" anchor="ctr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D12"/>
                          </a:solidFill>
                        </a:rPr>
                        <a:t>ERP operacional principal</a:t>
                      </a:r>
                    </a:p>
                  </a:txBody>
                  <a:tcPr marL="133350" marR="133350" marT="85725" marB="85725" anchor="ctr">
                    <a:solidFill>
                      <a:srgbClr val="E8F0FF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2"/>
                          </a:solidFill>
                        </a:rPr>
                        <a:t>Fluxo de trabalho</a:t>
                      </a:r>
                    </a:p>
                  </a:txBody>
                  <a:tcPr marL="133350" marR="133350" marT="85725" marB="857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2"/>
                          </a:solidFill>
                        </a:rPr>
                        <a:t>Tarefas e controles paralelos</a:t>
                      </a:r>
                    </a:p>
                  </a:txBody>
                  <a:tcPr marL="133350" marR="133350" marT="85725" marB="85725" anchor="ctr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D12"/>
                          </a:solidFill>
                        </a:rPr>
                        <a:t>Ciclo integrado de ponta a ponta</a:t>
                      </a:r>
                    </a:p>
                  </a:txBody>
                  <a:tcPr marL="133350" marR="133350" marT="85725" marB="85725" anchor="ctr">
                    <a:solidFill>
                      <a:srgbClr val="E8F0FF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2"/>
                          </a:solidFill>
                        </a:rPr>
                        <a:t>Exceções</a:t>
                      </a:r>
                    </a:p>
                  </a:txBody>
                  <a:tcPr marL="133350" marR="133350" marT="85725" marB="857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2"/>
                          </a:solidFill>
                        </a:rPr>
                        <a:t>Tratamento fora do processo</a:t>
                      </a:r>
                    </a:p>
                  </a:txBody>
                  <a:tcPr marL="133350" marR="133350" marT="85725" marB="85725" anchor="ctr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D12"/>
                          </a:solidFill>
                        </a:rPr>
                        <a:t>Fila central com contexto e SLA</a:t>
                      </a:r>
                    </a:p>
                  </a:txBody>
                  <a:tcPr marL="133350" marR="133350" marT="85725" marB="85725" anchor="ctr">
                    <a:solidFill>
                      <a:srgbClr val="E8F0FF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2"/>
                          </a:solidFill>
                        </a:rPr>
                        <a:t>Configuração</a:t>
                      </a:r>
                    </a:p>
                  </a:txBody>
                  <a:tcPr marL="133350" marR="133350" marT="85725" marB="857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2"/>
                          </a:solidFill>
                        </a:rPr>
                        <a:t>Customização por instalação</a:t>
                      </a:r>
                    </a:p>
                  </a:txBody>
                  <a:tcPr marL="133350" marR="133350" marT="85725" marB="85725" anchor="ctr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D12"/>
                          </a:solidFill>
                        </a:rPr>
                        <a:t>Núcleo comum parametrizável</a:t>
                      </a:r>
                    </a:p>
                  </a:txBody>
                  <a:tcPr marL="133350" marR="133350" marT="85725" marB="85725" anchor="ctr">
                    <a:solidFill>
                      <a:srgbClr val="E8F0FF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2"/>
                          </a:solidFill>
                        </a:rPr>
                        <a:t>Rastreabilidade</a:t>
                      </a:r>
                    </a:p>
                  </a:txBody>
                  <a:tcPr marL="133350" marR="133350" marT="85725" marB="857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2"/>
                          </a:solidFill>
                        </a:rPr>
                        <a:t>Evidências dispersas</a:t>
                      </a:r>
                    </a:p>
                  </a:txBody>
                  <a:tcPr marL="133350" marR="133350" marT="85725" marB="85725" anchor="ctr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D12"/>
                          </a:solidFill>
                        </a:rPr>
                        <a:t>Auditoria incorporada à arquitetura</a:t>
                      </a:r>
                    </a:p>
                  </a:txBody>
                  <a:tcPr marL="133350" marR="133350" marT="85725" marB="85725" anchor="ctr">
                    <a:solidFill>
                      <a:srgbClr val="E8F0FF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2"/>
                          </a:solidFill>
                        </a:rPr>
                        <a:t>IA</a:t>
                      </a:r>
                    </a:p>
                  </a:txBody>
                  <a:tcPr marL="133350" marR="133350" marT="85725" marB="857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2"/>
                          </a:solidFill>
                        </a:rPr>
                        <a:t>Dependência ou recurso isolado</a:t>
                      </a:r>
                    </a:p>
                  </a:txBody>
                  <a:tcPr marL="133350" marR="133350" marT="85725" marB="85725" anchor="ctr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D12"/>
                          </a:solidFill>
                        </a:rPr>
                        <a:t>Capacidade opcional sob governança</a:t>
                      </a:r>
                    </a:p>
                  </a:txBody>
                  <a:tcPr marL="133350" marR="133350" marT="85725" marB="85725" anchor="ctr"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A6AA5-5E66-45B3-B62A-72AC4BFF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373E4-D079-45B3-B607-0CAB9BFB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8A919D"/>
                </a:solidFill>
              </a:defRPr>
            </a:pPr>
            <a:r>
              <a:rPr sz="750" b="0" i="0">
                <a:solidFill>
                  <a:srgbClr val="8A919D"/>
                </a:solidFill>
              </a:rPr>
              <a:t>Visão de produto para discussão com parceiro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DF79A-1C8F-4B3E-B4DD-C837A93F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8A919D"/>
                </a:solidFill>
              </a:defRPr>
            </a:pPr>
            <a:r>
              <a:rPr sz="750" b="1" i="0">
                <a:solidFill>
                  <a:srgbClr val="8A919D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016640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37B07-DF94-432F-8B92-0E650849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MODELO DE NEGÓCIO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CE0B1-4582-4817-91E3-945FF510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0B0D12"/>
                </a:solidFill>
              </a:defRPr>
            </a:pPr>
            <a:r>
              <a:rPr sz="2850" b="1" i="0">
                <a:solidFill>
                  <a:srgbClr val="0B0D12"/>
                </a:solidFill>
              </a:rPr>
              <a:t>SaaS B2B com implantação e receita recorrente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4028B-EB21-4F6F-B7E1-09B3BC9D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97180"/>
                </a:solidFill>
              </a:defRPr>
            </a:pPr>
            <a:r>
              <a:rPr sz="1350" b="0" i="0">
                <a:solidFill>
                  <a:srgbClr val="697180"/>
                </a:solidFill>
              </a:rPr>
              <a:t>O núcleo permanece padronizado. Serviços especializados apoiam entrada, integração e evolução do cliente.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99689-837F-444C-86DF-B9FE7495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3337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CF5B4-1406-4DD2-A302-CA1E44A9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2563EB"/>
                </a:solidFill>
              </a:defRPr>
            </a:pPr>
            <a:r>
              <a:rPr sz="975" b="1" i="0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3B729-7621-4AC7-A750-98E8FF75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0B0D12"/>
                </a:solidFill>
              </a:defRPr>
            </a:pPr>
            <a:r>
              <a:rPr sz="1950" b="1" i="0">
                <a:solidFill>
                  <a:srgbClr val="0B0D12"/>
                </a:solidFill>
              </a:rPr>
              <a:t>Implantação inicial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C3031-CB04-46A2-9D3C-9BE93A13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697180"/>
                </a:solidFill>
              </a:defRPr>
            </a:pPr>
            <a:r>
              <a:rPr sz="1200" b="0" i="0">
                <a:solidFill>
                  <a:srgbClr val="697180"/>
                </a:solidFill>
              </a:rPr>
              <a:t>Diagnóstico, parametrização, migração e homologação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68589-D8E6-4829-885C-A5BCD12C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33337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B0D12"/>
          </a:solidFill>
          <a:ln xmlns:a="http://schemas.openxmlformats.org/drawingml/2006/main" w="9525">
            <a:solidFill>
              <a:srgbClr val="0B0D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3EFD2-F84E-41F6-BA40-02C771F1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2563EB"/>
                </a:solidFill>
              </a:defRPr>
            </a:pPr>
            <a:r>
              <a:rPr sz="975" b="1" i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C5A29-9EAC-4203-91DA-BB0EA69D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3370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Assinatura recorrente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E98D1-76B2-40C7-B7A5-B2EE652D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B7BFCA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B7BFCA"/>
                </a:solidFill>
              </a:defRPr>
            </a:pPr>
            <a:r>
              <a:rPr sz="1200" b="0" i="0">
                <a:solidFill>
                  <a:srgbClr val="B7BFCA"/>
                </a:solidFill>
              </a:rPr>
              <a:t>Acesso ao produto, evolução contínua e suporte contratado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2D111-9389-4E56-A2E0-1B1A52E8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47900"/>
            <a:ext cx="33337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31EF2-C21B-4F3E-82E2-15A9C47F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2563EB"/>
                </a:solidFill>
              </a:defRPr>
            </a:pPr>
            <a:r>
              <a:rPr sz="975" b="1" i="0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ACECF-3EA7-432D-BAE2-42A4AB52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3370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0B0D12"/>
                </a:solidFill>
              </a:defRPr>
            </a:pPr>
            <a:r>
              <a:rPr sz="1950" b="1" i="0">
                <a:solidFill>
                  <a:srgbClr val="0B0D12"/>
                </a:solidFill>
              </a:rPr>
              <a:t>Serviços opcionais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7453A-62FB-4AE0-AA07-2BF1F8CE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697180"/>
                </a:solidFill>
              </a:defRPr>
            </a:pPr>
            <a:r>
              <a:rPr sz="1200" b="0" i="0">
                <a:solidFill>
                  <a:srgbClr val="697180"/>
                </a:solidFill>
              </a:rPr>
              <a:t>Integrações, relatórios especializados e apoio operacional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9007B-9C68-4456-883B-367F9195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2563EB"/>
                </a:solidFill>
              </a:defRPr>
            </a:pPr>
            <a:r>
              <a:rPr sz="750" b="1" i="0">
                <a:solidFill>
                  <a:srgbClr val="2563EB"/>
                </a:solidFill>
              </a:rPr>
              <a:t>POLÍTICA COMERCIAL EM DEFINIÇÃO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61B3DF-DF16-4534-850C-580EC500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32832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232832"/>
                </a:solidFill>
              </a:defRPr>
            </a:pPr>
            <a:r>
              <a:rPr sz="1200" b="0" i="0">
                <a:solidFill>
                  <a:srgbClr val="232832"/>
                </a:solidFill>
              </a:rPr>
              <a:t>Preços e pacotes dependerão do custo de implantação, do valor entregue, do perfil do cliente e das margens necessárias para sustentar o produto.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D22CA-6F8E-4373-A991-8DD530B3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058C4-589E-41EF-84BF-1F982BEA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8A919D"/>
                </a:solidFill>
              </a:defRPr>
            </a:pPr>
            <a:r>
              <a:rPr sz="750" b="0" i="0">
                <a:solidFill>
                  <a:srgbClr val="8A919D"/>
                </a:solidFill>
              </a:rPr>
              <a:t>Visão de produto para discussão com parceiro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3365D-BE09-478F-818F-8A5B2D96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8A919D"/>
                </a:solidFill>
              </a:defRPr>
            </a:pPr>
            <a:r>
              <a:rPr sz="750" b="1" i="0">
                <a:solidFill>
                  <a:srgbClr val="8A919D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572212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D6C0FB-44EF-4037-8FBF-6520DE6C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0A5FA"/>
                </a:solidFill>
              </a:defRPr>
            </a:pPr>
            <a:r>
              <a:rPr sz="825" b="1" i="0">
                <a:solidFill>
                  <a:srgbClr val="60A5FA"/>
                </a:solidFill>
              </a:rPr>
              <a:t>ENTRADA NO MERCADO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D8647-660B-4363-8A4A-A86CD0DA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Primeiro cliente como prova integral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DDF26-0DB9-4861-8B8D-56980938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B6BDC8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B6BDC8"/>
                </a:solidFill>
              </a:defRPr>
            </a:pPr>
            <a:r>
              <a:rPr sz="1350" b="0" i="0">
                <a:solidFill>
                  <a:srgbClr val="B6BDC8"/>
                </a:solidFill>
              </a:rPr>
              <a:t>A prioridade é comprovar a substituição real antes de ampliar a comercialização.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002A4-049D-4A3A-BF86-D2056CC3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60A5FA"/>
                </a:solidFill>
              </a:defRPr>
            </a:pPr>
            <a:r>
              <a:rPr sz="1050" b="1" i="0">
                <a:solidFill>
                  <a:srgbClr val="60A5F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89823-A6B6-4F10-8C95-8F031E49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07BCC-9FA3-4A72-998C-EA90EFF7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Descoberta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BCB67-D079-4C8D-9023-164DE68D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AEB6C2"/>
                </a:solidFill>
              </a:defRPr>
            </a:pPr>
            <a:r>
              <a:rPr sz="1050" b="0" i="0">
                <a:solidFill>
                  <a:srgbClr val="AEB6C2"/>
                </a:solidFill>
              </a:rPr>
              <a:t>Processos, exceções e legado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D9D0E-5EA5-4815-AEAD-FFF3AE80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33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60A5FA"/>
                </a:solidFill>
              </a:defRPr>
            </a:pPr>
            <a:r>
              <a:rPr sz="1050" b="1" i="0">
                <a:solidFill>
                  <a:srgbClr val="60A5FA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DFD4C-B8F2-4CD0-AB0A-A13D3BE8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0985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36E33-64F6-4981-A18C-3F840476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956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Fundação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AB10D-E300-4DCA-824C-EF4935FE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24250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AEB6C2"/>
                </a:solidFill>
              </a:defRPr>
            </a:pPr>
            <a:r>
              <a:rPr sz="1050" b="0" i="0">
                <a:solidFill>
                  <a:srgbClr val="AEB6C2"/>
                </a:solidFill>
              </a:rPr>
              <a:t>Dados, cálculo e auditoria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B9152-9E1F-4927-B644-B9862F9C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33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60A5FA"/>
                </a:solidFill>
              </a:defRPr>
            </a:pPr>
            <a:r>
              <a:rPr sz="1050" b="1" i="0">
                <a:solidFill>
                  <a:srgbClr val="60A5F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192BA-A203-4328-BB1F-E7B0FF57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0985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797D1-DF6C-4C62-861F-F67F2CF0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956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Ciclo operacional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FC729-EF3A-4A00-A0BB-69482AD3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24250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AEB6C2"/>
                </a:solidFill>
              </a:defRPr>
            </a:pPr>
            <a:r>
              <a:rPr sz="1050" b="0" i="0">
                <a:solidFill>
                  <a:srgbClr val="AEB6C2"/>
                </a:solidFill>
              </a:rPr>
              <a:t>Liquidação, cobrança e fechamento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CDC90-7FFA-41E8-8E60-C0D3F5F2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33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60A5FA"/>
                </a:solidFill>
              </a:defRPr>
            </a:pPr>
            <a:r>
              <a:rPr sz="1050" b="1" i="0">
                <a:solidFill>
                  <a:srgbClr val="60A5FA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235BA-05CE-4673-A516-3934F4FD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F3B55-CDF7-4641-A227-FFABE136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956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Especialização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D5F54-180E-4331-8CE7-34062B79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24250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AEB6C2"/>
                </a:solidFill>
              </a:defRPr>
            </a:pPr>
            <a:r>
              <a:rPr sz="1050" b="0" i="0">
                <a:solidFill>
                  <a:srgbClr val="AEB6C2"/>
                </a:solidFill>
              </a:rPr>
              <a:t>Componentes exigidos pelo piloto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BCE80-BF1A-4225-8AE1-F7638853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60A5FA"/>
                </a:solidFill>
              </a:defRPr>
            </a:pPr>
            <a:r>
              <a:rPr sz="1050" b="1" i="0">
                <a:solidFill>
                  <a:srgbClr val="60A5FA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4D90A-E2EE-43FD-93F3-BEAE4579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86936-CC27-4628-B29E-02EDDA90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Operação paralela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CB79ED-B937-4E08-A328-1324AF37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24250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AEB6C2"/>
                </a:solidFill>
              </a:defRPr>
            </a:pPr>
            <a:r>
              <a:rPr sz="1050" b="0" i="0">
                <a:solidFill>
                  <a:srgbClr val="AEB6C2"/>
                </a:solidFill>
              </a:rPr>
              <a:t>Comparação de posições e falhas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F83100-39E8-4725-9E1F-7620B25D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33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60A5FA"/>
                </a:solidFill>
              </a:defRPr>
            </a:pPr>
            <a:r>
              <a:rPr sz="1050" b="1" i="0">
                <a:solidFill>
                  <a:srgbClr val="60A5FA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A63B2A-57B1-4931-AF5E-1703822C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0985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C842E2-9C82-42FC-A5A1-1387A1D7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956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Migração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B3C81-74D3-44A7-BF6A-E0D52728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24250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AEB6C2"/>
                </a:solidFill>
              </a:defRPr>
            </a:pPr>
            <a:r>
              <a:rPr sz="1050" b="0" i="0">
                <a:solidFill>
                  <a:srgbClr val="AEB6C2"/>
                </a:solidFill>
              </a:rPr>
              <a:t>Virada e estabilização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40EAB7-7F53-4DE1-836E-059CBB5D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6299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1151C"/>
          </a:solidFill>
          <a:ln xmlns:a="http://schemas.openxmlformats.org/drawingml/2006/main" w="9525">
            <a:solidFill>
              <a:srgbClr val="252C3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154803-0DDB-4749-9822-A477F7D0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0A5FA"/>
                </a:solidFill>
              </a:defRPr>
            </a:pPr>
            <a:r>
              <a:rPr sz="750" b="1" i="0">
                <a:solidFill>
                  <a:srgbClr val="60A5FA"/>
                </a:solidFill>
              </a:rPr>
              <a:t>JANELA PRELIMINAR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B0896A-067C-48FB-8A5C-FAE0B414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Aproximadamente 12 meses para um primeiro cliente com escopo controlado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612116-3010-4243-8E67-B33E0DC3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62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0" i="0">
                <a:solidFill>
                  <a:srgbClr val="AEB6C2"/>
                </a:solidFill>
              </a:defRPr>
            </a:defPPr>
          </a:lstStyle>
          <a:p xmlns:a="http://schemas.openxmlformats.org/drawingml/2006/main">
            <a:pPr algn="r">
              <a:defRPr sz="1050" b="0" i="0">
                <a:solidFill>
                  <a:srgbClr val="AEB6C2"/>
                </a:solidFill>
              </a:defRPr>
            </a:pPr>
            <a:r>
              <a:rPr sz="1050" b="0" i="0">
                <a:solidFill>
                  <a:srgbClr val="AEB6C2"/>
                </a:solidFill>
              </a:rPr>
              <a:t>Referência sujeita ao diagnóstico, à equipe e às integrações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2A32F6-EAA4-4CAB-B2D7-0CDB0ECA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6042FE-6AA1-4B78-9A81-94B58CDB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737C8B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737C8B"/>
                </a:solidFill>
              </a:defRPr>
            </a:pPr>
            <a:r>
              <a:rPr sz="750" b="0" i="0">
                <a:solidFill>
                  <a:srgbClr val="737C8B"/>
                </a:solidFill>
              </a:rPr>
              <a:t>Visão de produto para discussão com parceiro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CBA0C3-8E97-48AC-804E-1551262D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737C8B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737C8B"/>
                </a:solidFill>
              </a:defRPr>
            </a:pPr>
            <a:r>
              <a:rPr sz="750" b="1" i="0">
                <a:solidFill>
                  <a:srgbClr val="737C8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807466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654923-4EB3-47A7-AD3E-D606CA66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AGENDA DE PARCERIA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3F717-7CE7-485C-AADA-AB89D1C4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0B0D12"/>
                </a:solidFill>
              </a:defRPr>
            </a:pPr>
            <a:r>
              <a:rPr sz="2850" b="1" i="0">
                <a:solidFill>
                  <a:srgbClr val="0B0D12"/>
                </a:solidFill>
              </a:rPr>
              <a:t>Decisões para transformar a visão em implantação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8CB5D-46E8-4732-8F6F-0E903BBB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97180"/>
                </a:solidFill>
              </a:defRPr>
            </a:pPr>
            <a:r>
              <a:rPr sz="1350" b="0" i="0">
                <a:solidFill>
                  <a:srgbClr val="697180"/>
                </a:solidFill>
              </a:rPr>
              <a:t>A próxima etapa combina validação comercial, definição do cliente fundador e preparação técnica para produção.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090FE-FE67-408D-ACD1-3DAD4946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A0F9C-4177-4B56-9946-165D44AB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0B0D12"/>
                </a:solidFill>
              </a:defRPr>
            </a:pPr>
            <a:r>
              <a:rPr sz="1575" b="1" i="0">
                <a:solidFill>
                  <a:srgbClr val="0B0D12"/>
                </a:solidFill>
              </a:rPr>
              <a:t>Cliente fundador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686C0-438B-4442-BFB1-DE90A9D2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384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97180"/>
                </a:solidFill>
              </a:defRPr>
            </a:pPr>
            <a:r>
              <a:rPr sz="1125" b="0" i="0">
                <a:solidFill>
                  <a:srgbClr val="697180"/>
                </a:solidFill>
              </a:rPr>
              <a:t>Perfil, carteira, volume, ERP atual e patrocinador operacional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0438F-CDE0-4BDC-877C-95CD1BEC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62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588DC-B061-42DD-A88A-5AFD66EB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F587D-3213-438E-AD02-4B6FCBBD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0B0D12"/>
                </a:solidFill>
              </a:defRPr>
            </a:pPr>
            <a:r>
              <a:rPr sz="1575" b="1" i="0">
                <a:solidFill>
                  <a:srgbClr val="0B0D12"/>
                </a:solidFill>
              </a:rPr>
              <a:t>Perímetro regulatório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89D81-F627-46D0-9FDE-D142D54D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384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97180"/>
                </a:solidFill>
              </a:defRPr>
            </a:pPr>
            <a:r>
              <a:rPr sz="1125" b="0" i="0">
                <a:solidFill>
                  <a:srgbClr val="697180"/>
                </a:solidFill>
              </a:rPr>
              <a:t>Responsabilidades por entidade, operação e prestador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DA45D-CC42-488A-B3AD-BC2EA899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62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99B10-CA6C-4168-B563-0A834114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18E3B-A4C0-4608-9B90-6F98CECC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0B0D12"/>
                </a:solidFill>
              </a:defRPr>
            </a:pPr>
            <a:r>
              <a:rPr sz="1575" b="1" i="0">
                <a:solidFill>
                  <a:srgbClr val="0B0D12"/>
                </a:solidFill>
              </a:rPr>
              <a:t>Integrações prioritárias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F10C7-53D7-4FBA-8B67-75979D39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97180"/>
                </a:solidFill>
              </a:defRPr>
            </a:pPr>
            <a:r>
              <a:rPr sz="1125" b="0" i="0">
                <a:solidFill>
                  <a:srgbClr val="697180"/>
                </a:solidFill>
              </a:rPr>
              <a:t>Conectores exigidos pelo ambiente do cliente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50C2A-F028-4219-BAD0-B69532F7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671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A25DD-0A1B-4E7D-80B1-6D34E1F3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0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0E714-1307-402F-913B-E39297F4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623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0B0D12"/>
                </a:solidFill>
              </a:defRPr>
            </a:pPr>
            <a:r>
              <a:rPr sz="1575" b="1" i="0">
                <a:solidFill>
                  <a:srgbClr val="0B0D12"/>
                </a:solidFill>
              </a:rPr>
              <a:t>Dados legados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9AD05-EF6D-4DD0-9081-F41C82FE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43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97180"/>
                </a:solidFill>
              </a:defRPr>
            </a:pPr>
            <a:r>
              <a:rPr sz="1125" b="0" i="0">
                <a:solidFill>
                  <a:srgbClr val="697180"/>
                </a:solidFill>
              </a:rPr>
              <a:t>Qualidade, disponibilidade e viabilidade de migração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DDC012-9067-49BC-A9A1-6BAD5F49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671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179BC4-9F51-4D85-B960-D80E02C3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7342B-B6C2-4E4A-AC6F-2AEFB602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0B0D12"/>
                </a:solidFill>
              </a:defRPr>
            </a:pPr>
            <a:r>
              <a:rPr sz="1575" b="1" i="0">
                <a:solidFill>
                  <a:srgbClr val="0B0D12"/>
                </a:solidFill>
              </a:rPr>
              <a:t>Equipe e orçamento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438BC-DEED-4176-920B-28B22750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97180"/>
                </a:solidFill>
              </a:defRPr>
            </a:pPr>
            <a:r>
              <a:rPr sz="1125" b="0" i="0">
                <a:solidFill>
                  <a:srgbClr val="697180"/>
                </a:solidFill>
              </a:rPr>
              <a:t>Arquitetura, desenvolvimento, QA, segurança e suporte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E512C-26CF-4982-A5AD-466EF081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720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3DF6CA-F827-4CE6-BFD4-8B2743E6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05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3A94D-885B-43D0-85FF-9966B8E1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67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0B0D12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0B0D12"/>
                </a:solidFill>
              </a:defRPr>
            </a:pPr>
            <a:r>
              <a:rPr sz="1575" b="1" i="0">
                <a:solidFill>
                  <a:srgbClr val="0B0D12"/>
                </a:solidFill>
              </a:rPr>
              <a:t>Estratégia comercial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B45974-46CB-4EF9-916D-924863A8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97180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97180"/>
                </a:solidFill>
              </a:defRPr>
            </a:pPr>
            <a:r>
              <a:rPr sz="1125" b="0" i="0">
                <a:solidFill>
                  <a:srgbClr val="697180"/>
                </a:solidFill>
              </a:rPr>
              <a:t>Implantação, mensalidade, serviços e homologação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7BCBBD-E525-4850-AA38-4C6DC205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720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5C4D57-F6CA-4851-A4E5-3A057A43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299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902D21-91DA-4252-A770-7147171B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Objetivo imediato: selecionar a primeira implantação capaz de provar integridade financeira, continuidade operacional e migração segura.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1412E8-CB30-4F0E-B513-B0A44187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A843A3-BD33-4480-A933-80C38285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8A919D"/>
                </a:solidFill>
              </a:defRPr>
            </a:pPr>
            <a:r>
              <a:rPr sz="750" b="0" i="0">
                <a:solidFill>
                  <a:srgbClr val="8A919D"/>
                </a:solidFill>
              </a:rPr>
              <a:t>Visão de produto para discussão com parceiro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F149C5-0467-459C-B256-F74DA741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8A919D"/>
                </a:solidFill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8A919D"/>
                </a:solidFill>
              </a:defRPr>
            </a:pPr>
            <a:r>
              <a:rPr sz="750" b="1" i="0">
                <a:solidFill>
                  <a:srgbClr val="8A919D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0026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2026-10-11T04:07:35.6570000Z</dcterms:created>
  <dcterms:modified xsi:type="dcterms:W3CDTF">2026-10-11T04:07:35.6570000Z</dcterms:modified>
</coreProperties>
</file>